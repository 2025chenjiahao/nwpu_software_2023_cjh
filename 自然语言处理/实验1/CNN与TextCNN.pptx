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825" r:id="rId2"/>
  </p:sldMasterIdLst>
  <p:notesMasterIdLst>
    <p:notesMasterId r:id="rId82"/>
  </p:notesMasterIdLst>
  <p:handoutMasterIdLst>
    <p:handoutMasterId r:id="rId83"/>
  </p:handoutMasterIdLst>
  <p:sldIdLst>
    <p:sldId id="579" r:id="rId3"/>
    <p:sldId id="382" r:id="rId4"/>
    <p:sldId id="1907" r:id="rId5"/>
    <p:sldId id="259" r:id="rId6"/>
    <p:sldId id="1908" r:id="rId7"/>
    <p:sldId id="261" r:id="rId8"/>
    <p:sldId id="1909" r:id="rId9"/>
    <p:sldId id="263" r:id="rId10"/>
    <p:sldId id="264" r:id="rId11"/>
    <p:sldId id="1910" r:id="rId12"/>
    <p:sldId id="266" r:id="rId13"/>
    <p:sldId id="267" r:id="rId14"/>
    <p:sldId id="277" r:id="rId15"/>
    <p:sldId id="1926" r:id="rId16"/>
    <p:sldId id="1927" r:id="rId17"/>
    <p:sldId id="1928" r:id="rId18"/>
    <p:sldId id="271" r:id="rId19"/>
    <p:sldId id="1913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1929" r:id="rId29"/>
    <p:sldId id="283" r:id="rId30"/>
    <p:sldId id="286" r:id="rId31"/>
    <p:sldId id="287" r:id="rId32"/>
    <p:sldId id="288" r:id="rId33"/>
    <p:sldId id="293" r:id="rId34"/>
    <p:sldId id="1930" r:id="rId35"/>
    <p:sldId id="295" r:id="rId36"/>
    <p:sldId id="1931" r:id="rId37"/>
    <p:sldId id="1932" r:id="rId38"/>
    <p:sldId id="299" r:id="rId39"/>
    <p:sldId id="300" r:id="rId40"/>
    <p:sldId id="1933" r:id="rId41"/>
    <p:sldId id="302" r:id="rId42"/>
    <p:sldId id="1934" r:id="rId43"/>
    <p:sldId id="1935" r:id="rId44"/>
    <p:sldId id="1936" r:id="rId45"/>
    <p:sldId id="308" r:id="rId46"/>
    <p:sldId id="309" r:id="rId47"/>
    <p:sldId id="1914" r:id="rId48"/>
    <p:sldId id="340" r:id="rId49"/>
    <p:sldId id="341" r:id="rId50"/>
    <p:sldId id="312" r:id="rId51"/>
    <p:sldId id="311" r:id="rId52"/>
    <p:sldId id="313" r:id="rId53"/>
    <p:sldId id="581" r:id="rId54"/>
    <p:sldId id="315" r:id="rId55"/>
    <p:sldId id="1937" r:id="rId56"/>
    <p:sldId id="317" r:id="rId57"/>
    <p:sldId id="1915" r:id="rId58"/>
    <p:sldId id="1916" r:id="rId59"/>
    <p:sldId id="320" r:id="rId60"/>
    <p:sldId id="321" r:id="rId61"/>
    <p:sldId id="1917" r:id="rId62"/>
    <p:sldId id="323" r:id="rId63"/>
    <p:sldId id="580" r:id="rId64"/>
    <p:sldId id="599" r:id="rId65"/>
    <p:sldId id="592" r:id="rId66"/>
    <p:sldId id="593" r:id="rId67"/>
    <p:sldId id="594" r:id="rId68"/>
    <p:sldId id="595" r:id="rId69"/>
    <p:sldId id="596" r:id="rId70"/>
    <p:sldId id="597" r:id="rId71"/>
    <p:sldId id="598" r:id="rId72"/>
    <p:sldId id="600" r:id="rId73"/>
    <p:sldId id="602" r:id="rId74"/>
    <p:sldId id="603" r:id="rId75"/>
    <p:sldId id="607" r:id="rId76"/>
    <p:sldId id="604" r:id="rId77"/>
    <p:sldId id="606" r:id="rId78"/>
    <p:sldId id="608" r:id="rId79"/>
    <p:sldId id="609" r:id="rId80"/>
    <p:sldId id="316" r:id="rId8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2B2B2"/>
    <a:srgbClr val="D60093"/>
    <a:srgbClr val="E61600"/>
    <a:srgbClr val="0033CC"/>
    <a:srgbClr val="FFCCCC"/>
    <a:srgbClr val="25A7FF"/>
    <a:srgbClr val="4D4D4D"/>
    <a:srgbClr val="000000"/>
    <a:srgbClr val="5F5F5F"/>
    <a:srgbClr val="FFE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82" autoAdjust="0"/>
    <p:restoredTop sz="93742" autoAdjust="0"/>
  </p:normalViewPr>
  <p:slideViewPr>
    <p:cSldViewPr>
      <p:cViewPr varScale="1">
        <p:scale>
          <a:sx n="122" d="100"/>
          <a:sy n="122" d="100"/>
        </p:scale>
        <p:origin x="96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t" anchorCtr="0" compatLnSpc="1">
            <a:prstTxWarp prst="textNoShape">
              <a:avLst/>
            </a:prstTxWarp>
          </a:bodyPr>
          <a:lstStyle>
            <a:lvl1pPr algn="l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b" anchorCtr="0" compatLnSpc="1">
            <a:prstTxWarp prst="textNoShape">
              <a:avLst/>
            </a:prstTxWarp>
          </a:bodyPr>
          <a:lstStyle>
            <a:lvl1pPr algn="l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7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F86E4086-EED1-4F28-90E6-F3C04F632A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874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t" anchorCtr="0" compatLnSpc="1">
            <a:prstTxWarp prst="textNoShape">
              <a:avLst/>
            </a:prstTxWarp>
          </a:bodyPr>
          <a:lstStyle>
            <a:lvl1pPr algn="l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2513"/>
            <a:ext cx="5676900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9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b" anchorCtr="0" compatLnSpc="1">
            <a:prstTxWarp prst="textNoShape">
              <a:avLst/>
            </a:prstTxWarp>
          </a:bodyPr>
          <a:lstStyle>
            <a:lvl1pPr algn="l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9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499" tIns="48250" rIns="96499" bIns="48250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4897AA4B-4FA7-4D54-805B-E9F60F25C5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3962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7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</p:spPr>
        <p:txBody>
          <a:bodyPr/>
          <a:lstStyle>
            <a:lvl1pPr>
              <a:defRPr sz="52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5408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2F536-17DB-40D3-B6BE-C4E6080F1C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63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20D4B-E2F5-4068-A935-EEC346F4F7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643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07A42-35A7-4DCC-BBAA-7AD57C2620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8397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17D6A-CF3C-447A-97B4-B3D3A90423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51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A3F97-0BEB-494D-9409-8D38A100D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488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F30D3-74B8-460D-A309-1F96C36FB7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561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A18CB-8387-4080-9633-CE6C5FCADB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67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D61E-C37E-4853-A7BF-466382E66B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72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1CF56-CAA9-485B-A28D-8B353CB750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691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8D26B-D5A8-454B-97AE-8814883650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47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7BCD3-64DF-4DA5-996D-D6E7389F1E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3265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34CDA-B7CA-44E8-BA82-5E60E4E4F8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179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8D621-4246-4E5C-9643-6E25C3E1BF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7866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E538B-F598-48DE-AD05-8E8837DFD4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331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B0F1C-BEB9-479B-BEB2-F07BFEEA6C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0592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2F23-04BC-174D-975B-EA52EAFD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7F4B8-8373-BC4A-8421-8BD78F92E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60A5D-2670-46FB-9F71-125129B3C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71876-96D7-40D9-B5A9-E47ED4ADD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7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EFD5-305F-3C4E-B5C5-B78BD3A7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4F126-98FF-6B4D-94F9-975ED7B51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4EA1D-3BB7-425E-A2D4-396EA92A0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64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771B-1A74-4C45-B6AF-47D374D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48F0-52BC-7748-9157-69DC4A773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10DCD-E7F0-45F1-889B-9273A2954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C9234-F65F-489C-8BF6-2D58A516B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056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7107-386C-1641-9CD9-0EC991B1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DF79-BAF5-EB47-8AC9-CDF09BA2B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049E3-C1F5-CC4A-AC46-C057EFD0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1EEE-07E2-4433-89F0-A485480FA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078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362D-E980-D946-9FCF-611BCF4E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6468-B094-734F-B799-EBFFA6535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A95BD-C379-1647-A664-F00FED3CE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7818D-C5DD-3949-AF73-EA9BC14A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3B6B6-0AE2-F441-A704-ED8394DD9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DCD080-62AD-41B4-98C7-11051E670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36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63E-F1DC-634D-8382-33C14251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0696A53-1420-4DC0-802A-0E01355FA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274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DF79AB-86D9-428D-B986-52004005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8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1AFD-80A6-6549-AD56-7A92D9BC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5DC-D4BA-BD47-ACE3-F8A98BC7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DE935-FB9D-544B-BC4D-29D041A70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5D744-9BE6-4760-9BB6-4D3999EE8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97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D920-4F51-D640-B8F1-07E31B2B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4BEF5-1B11-FA44-96F2-FA7B0DC11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CBEFB-77FD-AB47-8634-5B508E79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03F69-4475-457D-8C25-BE3EFFAAD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3416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6919-1AE4-084C-916B-607FA50E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BDEF-CA8F-6C48-8CFE-1DDCD148B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7C19E0A-E39D-4563-8C0A-EBB531534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369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05CC2-D948-264B-A9D4-D4CF09ADC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6F8B9-534E-594B-AA27-53CF5056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D03756-7836-4D15-AC3E-416BEA07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3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83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+mn-lt"/>
                <a:ea typeface="楷体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84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楷体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85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  <a:ea typeface="楷体" pitchFamily="49" charset="-122"/>
              </a:defRPr>
            </a:lvl1pPr>
          </a:lstStyle>
          <a:p>
            <a:pPr>
              <a:defRPr/>
            </a:pPr>
            <a:fld id="{725E670F-3292-4BAF-8527-F7F659CFCA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楷体" pitchFamily="49" charset="-122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楷体" pitchFamily="49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楷体" pitchFamily="49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楷体" pitchFamily="49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楷体" pitchFamily="49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楷体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楷体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楷体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楷体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楷体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A112F1-0439-894A-84D1-2EC63A591433}"/>
              </a:ext>
            </a:extLst>
          </p:cNvPr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972C9-ACB3-E341-B4E5-2D6626D2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0A5B-105D-DE45-A0A8-CB0E7B30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83937"/>
            <a:ext cx="7886700" cy="5120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AAF8-7122-C84B-B6BE-14153B0B7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2x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87CA8-D8A2-484C-BCF7-8D63AD7E53F8}"/>
              </a:ext>
            </a:extLst>
          </p:cNvPr>
          <p:cNvSpPr txBox="1"/>
          <p:nvPr userDrawn="1"/>
        </p:nvSpPr>
        <p:spPr>
          <a:xfrm>
            <a:off x="628650" y="6429346"/>
            <a:ext cx="13138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CB05"/>
                </a:solidFill>
              </a:rPr>
              <a:t>Justin Johnson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82331-011A-BB4A-90CA-EBA3BA780B6B}"/>
              </a:ext>
            </a:extLst>
          </p:cNvPr>
          <p:cNvSpPr txBox="1"/>
          <p:nvPr userDrawn="1"/>
        </p:nvSpPr>
        <p:spPr>
          <a:xfrm>
            <a:off x="6700707" y="6429345"/>
            <a:ext cx="18146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0" i="0" u="none" kern="1200" dirty="0">
                <a:solidFill>
                  <a:srgbClr val="FFCB05"/>
                </a:solidFill>
                <a:effectLst/>
                <a:latin typeface="+mn-lt"/>
                <a:ea typeface="+mn-ea"/>
                <a:cs typeface="+mn-cs"/>
              </a:rPr>
              <a:t>Fall 2019</a:t>
            </a:r>
            <a:endParaRPr lang="en-US" sz="1500" u="none" dirty="0">
              <a:solidFill>
                <a:srgbClr val="FFCB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88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目录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B2B2B2"/>
                </a:solidFill>
              </a:rPr>
              <a:t>1 </a:t>
            </a:r>
            <a:r>
              <a:rPr lang="zh-CN" altLang="en-US" b="1" dirty="0">
                <a:solidFill>
                  <a:srgbClr val="B2B2B2"/>
                </a:solidFill>
              </a:rPr>
              <a:t>卷积神经网络</a:t>
            </a:r>
            <a:endParaRPr lang="en-US" altLang="zh-CN" b="1" dirty="0">
              <a:solidFill>
                <a:srgbClr val="B2B2B2"/>
              </a:solidFill>
            </a:endParaRPr>
          </a:p>
          <a:p>
            <a:pPr eaLnBrk="1" hangingPunct="1"/>
            <a:r>
              <a:rPr lang="en-US" altLang="zh-CN" b="1" dirty="0"/>
              <a:t>2 </a:t>
            </a:r>
            <a:r>
              <a:rPr lang="en-US" altLang="zh-CN" b="1" dirty="0" err="1"/>
              <a:t>TextCNN</a:t>
            </a:r>
            <a:r>
              <a:rPr lang="zh-CN" altLang="en-US" b="1" dirty="0"/>
              <a:t>文本分类</a:t>
            </a:r>
          </a:p>
        </p:txBody>
      </p:sp>
    </p:spTree>
    <p:extLst>
      <p:ext uri="{BB962C8B-B14F-4D97-AF65-F5344CB8AC3E}">
        <p14:creationId xmlns:p14="http://schemas.microsoft.com/office/powerpoint/2010/main" val="275623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4400" dirty="0">
                <a:latin typeface="KaiTi" panose="02010609060101010101" pitchFamily="49" charset="-122"/>
                <a:ea typeface="KaiTi" panose="02010609060101010101" pitchFamily="49" charset="-122"/>
              </a:rPr>
              <a:t>卷积神经网络</a:t>
            </a:r>
            <a:endParaRPr lang="en-US" sz="4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87" y="4009019"/>
            <a:ext cx="1379507" cy="1555274"/>
          </a:xfrm>
          <a:prstGeom prst="rect">
            <a:avLst/>
          </a:prstGeom>
        </p:spPr>
      </p:pic>
      <p:pic>
        <p:nvPicPr>
          <p:cNvPr id="12" name="Google Shape;11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906" y="4054862"/>
            <a:ext cx="1802664" cy="142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43927" y="3553621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9334" y="3546016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池化层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979" y="2269919"/>
            <a:ext cx="2248728" cy="1019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3297" y="172117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oogle Shape;50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1407" y="2142499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253111" y="171814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激活函数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Google Shape;861;p80"/>
          <p:cNvPicPr preferRelativeResize="0"/>
          <p:nvPr/>
        </p:nvPicPr>
        <p:blipFill rotWithShape="1">
          <a:blip r:embed="rId6">
            <a:alphaModFix/>
          </a:blip>
          <a:srcRect t="58386" r="31776" b="12523"/>
          <a:stretch/>
        </p:blipFill>
        <p:spPr>
          <a:xfrm>
            <a:off x="6154283" y="4267840"/>
            <a:ext cx="2248728" cy="10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389528" y="3546016"/>
            <a:ext cx="157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归一化处理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46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全连接层</a:t>
            </a:r>
            <a:r>
              <a:rPr lang="en-US" dirty="0"/>
              <a:t>Fully-Connected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460;p39"/>
          <p:cNvSpPr txBox="1"/>
          <p:nvPr/>
        </p:nvSpPr>
        <p:spPr>
          <a:xfrm>
            <a:off x="1399635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461;p39"/>
          <p:cNvSpPr txBox="1"/>
          <p:nvPr/>
        </p:nvSpPr>
        <p:spPr>
          <a:xfrm>
            <a:off x="100387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463;p39"/>
          <p:cNvSpPr txBox="1"/>
          <p:nvPr/>
        </p:nvSpPr>
        <p:spPr>
          <a:xfrm>
            <a:off x="751029" y="1701726"/>
            <a:ext cx="7827661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32x32x3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-&gt; </a:t>
            </a:r>
            <a:r>
              <a:rPr lang="zh-CN" altLang="en-US" sz="2399" dirty="0">
                <a:solidFill>
                  <a:prstClr val="black"/>
                </a:solidFill>
                <a:latin typeface="Calibri" panose="020F0502020204030204"/>
                <a:ea typeface="+mn-ea"/>
              </a:rPr>
              <a:t>向量化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 x 1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464;p39"/>
          <p:cNvSpPr txBox="1"/>
          <p:nvPr/>
        </p:nvSpPr>
        <p:spPr>
          <a:xfrm>
            <a:off x="3449690" y="3257669"/>
            <a:ext cx="2506747" cy="35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x 3072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465;p39"/>
          <p:cNvSpPr txBox="1"/>
          <p:nvPr/>
        </p:nvSpPr>
        <p:spPr>
          <a:xfrm>
            <a:off x="6861726" y="2745901"/>
            <a:ext cx="925932" cy="29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466;p39"/>
          <p:cNvSpPr/>
          <p:nvPr/>
        </p:nvSpPr>
        <p:spPr>
          <a:xfrm>
            <a:off x="6448770" y="3140250"/>
            <a:ext cx="1751844" cy="282227"/>
          </a:xfrm>
          <a:prstGeom prst="cube">
            <a:avLst>
              <a:gd name="adj" fmla="val 25000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467;p39"/>
          <p:cNvSpPr/>
          <p:nvPr/>
        </p:nvSpPr>
        <p:spPr>
          <a:xfrm>
            <a:off x="6524975" y="3233302"/>
            <a:ext cx="150261" cy="15266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68;p39"/>
          <p:cNvSpPr/>
          <p:nvPr/>
        </p:nvSpPr>
        <p:spPr>
          <a:xfrm>
            <a:off x="388824" y="3140250"/>
            <a:ext cx="2783575" cy="282227"/>
          </a:xfrm>
          <a:prstGeom prst="cube">
            <a:avLst>
              <a:gd name="adj" fmla="val 25000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Google Shape;46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28347" y="2924383"/>
            <a:ext cx="542783" cy="2571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470;p39"/>
          <p:cNvSpPr txBox="1"/>
          <p:nvPr/>
        </p:nvSpPr>
        <p:spPr>
          <a:xfrm>
            <a:off x="1425890" y="2709950"/>
            <a:ext cx="709440" cy="36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472;p39"/>
          <p:cNvSpPr txBox="1"/>
          <p:nvPr/>
        </p:nvSpPr>
        <p:spPr>
          <a:xfrm>
            <a:off x="6096525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473;p39"/>
          <p:cNvSpPr txBox="1"/>
          <p:nvPr/>
        </p:nvSpPr>
        <p:spPr>
          <a:xfrm>
            <a:off x="7113147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Google Shape;475;p39"/>
          <p:cNvCxnSpPr/>
          <p:nvPr/>
        </p:nvCxnSpPr>
        <p:spPr>
          <a:xfrm>
            <a:off x="3345516" y="3281363"/>
            <a:ext cx="607642" cy="1199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476;p39"/>
          <p:cNvCxnSpPr/>
          <p:nvPr/>
        </p:nvCxnSpPr>
        <p:spPr>
          <a:xfrm>
            <a:off x="5393095" y="3272691"/>
            <a:ext cx="614240" cy="869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35871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全连接层</a:t>
            </a:r>
            <a:r>
              <a:rPr lang="en-US" dirty="0"/>
              <a:t>Fully-Connected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460;p39"/>
          <p:cNvSpPr txBox="1"/>
          <p:nvPr/>
        </p:nvSpPr>
        <p:spPr>
          <a:xfrm>
            <a:off x="1399635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461;p39"/>
          <p:cNvSpPr txBox="1"/>
          <p:nvPr/>
        </p:nvSpPr>
        <p:spPr>
          <a:xfrm>
            <a:off x="100387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463;p39"/>
          <p:cNvSpPr txBox="1"/>
          <p:nvPr/>
        </p:nvSpPr>
        <p:spPr>
          <a:xfrm>
            <a:off x="751029" y="1701726"/>
            <a:ext cx="7827661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32x32x3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-&gt; </a:t>
            </a:r>
            <a:r>
              <a:rPr lang="zh-CN" altLang="en-US" sz="2399" dirty="0">
                <a:solidFill>
                  <a:prstClr val="black"/>
                </a:solidFill>
                <a:latin typeface="Calibri" panose="020F0502020204030204"/>
                <a:ea typeface="+mn-ea"/>
              </a:rPr>
              <a:t>向量化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 x 1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464;p39"/>
          <p:cNvSpPr txBox="1"/>
          <p:nvPr/>
        </p:nvSpPr>
        <p:spPr>
          <a:xfrm>
            <a:off x="3449690" y="3257669"/>
            <a:ext cx="2506747" cy="35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x 3072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465;p39"/>
          <p:cNvSpPr txBox="1"/>
          <p:nvPr/>
        </p:nvSpPr>
        <p:spPr>
          <a:xfrm>
            <a:off x="6861726" y="2745901"/>
            <a:ext cx="925932" cy="29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466;p39"/>
          <p:cNvSpPr/>
          <p:nvPr/>
        </p:nvSpPr>
        <p:spPr>
          <a:xfrm>
            <a:off x="6448770" y="3140250"/>
            <a:ext cx="1751844" cy="282227"/>
          </a:xfrm>
          <a:prstGeom prst="cube">
            <a:avLst>
              <a:gd name="adj" fmla="val 25000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467;p39"/>
          <p:cNvSpPr/>
          <p:nvPr/>
        </p:nvSpPr>
        <p:spPr>
          <a:xfrm>
            <a:off x="6524975" y="3233302"/>
            <a:ext cx="150261" cy="15266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68;p39"/>
          <p:cNvSpPr/>
          <p:nvPr/>
        </p:nvSpPr>
        <p:spPr>
          <a:xfrm>
            <a:off x="388824" y="3140250"/>
            <a:ext cx="2783575" cy="282227"/>
          </a:xfrm>
          <a:prstGeom prst="cube">
            <a:avLst>
              <a:gd name="adj" fmla="val 25000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Google Shape;46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28347" y="2924383"/>
            <a:ext cx="542783" cy="2571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470;p39"/>
          <p:cNvSpPr txBox="1"/>
          <p:nvPr/>
        </p:nvSpPr>
        <p:spPr>
          <a:xfrm>
            <a:off x="1425890" y="2709950"/>
            <a:ext cx="709440" cy="36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471;p39"/>
          <p:cNvSpPr txBox="1"/>
          <p:nvPr/>
        </p:nvSpPr>
        <p:spPr>
          <a:xfrm>
            <a:off x="5840054" y="3879433"/>
            <a:ext cx="3020513" cy="76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向量和</a:t>
            </a:r>
            <a:r>
              <a:rPr lang="en" altLang="zh-CN" sz="1865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的一行点积结果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(3072-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维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点积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472;p39"/>
          <p:cNvSpPr txBox="1"/>
          <p:nvPr/>
        </p:nvSpPr>
        <p:spPr>
          <a:xfrm>
            <a:off x="6096525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473;p39"/>
          <p:cNvSpPr txBox="1"/>
          <p:nvPr/>
        </p:nvSpPr>
        <p:spPr>
          <a:xfrm>
            <a:off x="7113147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Google Shape;474;p39"/>
          <p:cNvCxnSpPr/>
          <p:nvPr/>
        </p:nvCxnSpPr>
        <p:spPr>
          <a:xfrm rot="10800000" flipH="1">
            <a:off x="6172417" y="3467641"/>
            <a:ext cx="349709" cy="4525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475;p39"/>
          <p:cNvCxnSpPr/>
          <p:nvPr/>
        </p:nvCxnSpPr>
        <p:spPr>
          <a:xfrm>
            <a:off x="3345516" y="3281363"/>
            <a:ext cx="607642" cy="1199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476;p39"/>
          <p:cNvCxnSpPr/>
          <p:nvPr/>
        </p:nvCxnSpPr>
        <p:spPr>
          <a:xfrm>
            <a:off x="5393095" y="3272691"/>
            <a:ext cx="614240" cy="869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10828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6796529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保持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空域结构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488;p40"/>
          <p:cNvSpPr txBox="1"/>
          <p:nvPr/>
        </p:nvSpPr>
        <p:spPr>
          <a:xfrm>
            <a:off x="2012451" y="4578181"/>
            <a:ext cx="722663" cy="39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宽度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490;p40"/>
          <p:cNvSpPr txBox="1"/>
          <p:nvPr/>
        </p:nvSpPr>
        <p:spPr>
          <a:xfrm>
            <a:off x="1292402" y="4924991"/>
            <a:ext cx="1132656" cy="6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深度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通道数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489;p40"/>
          <p:cNvSpPr txBox="1"/>
          <p:nvPr/>
        </p:nvSpPr>
        <p:spPr>
          <a:xfrm>
            <a:off x="2432354" y="3868190"/>
            <a:ext cx="856815" cy="37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高度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10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488;p40"/>
          <p:cNvSpPr txBox="1"/>
          <p:nvPr/>
        </p:nvSpPr>
        <p:spPr>
          <a:xfrm>
            <a:off x="2012451" y="4578181"/>
            <a:ext cx="722663" cy="39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宽度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490;p40"/>
          <p:cNvSpPr txBox="1"/>
          <p:nvPr/>
        </p:nvSpPr>
        <p:spPr>
          <a:xfrm>
            <a:off x="1292402" y="4924991"/>
            <a:ext cx="1132656" cy="6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深度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通道数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515;p42"/>
          <p:cNvSpPr/>
          <p:nvPr/>
        </p:nvSpPr>
        <p:spPr>
          <a:xfrm>
            <a:off x="4144820" y="3162058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3919080" y="2482585"/>
            <a:ext cx="1949064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核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18;p42"/>
          <p:cNvSpPr txBox="1"/>
          <p:nvPr/>
        </p:nvSpPr>
        <p:spPr>
          <a:xfrm>
            <a:off x="5196447" y="3516677"/>
            <a:ext cx="3772742" cy="97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核和图像卷积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489;p40"/>
          <p:cNvSpPr txBox="1"/>
          <p:nvPr/>
        </p:nvSpPr>
        <p:spPr>
          <a:xfrm>
            <a:off x="2432354" y="3868190"/>
            <a:ext cx="856815" cy="37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高度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64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488;p40"/>
          <p:cNvSpPr txBox="1"/>
          <p:nvPr/>
        </p:nvSpPr>
        <p:spPr>
          <a:xfrm>
            <a:off x="2012451" y="4578181"/>
            <a:ext cx="722663" cy="39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宽度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489;p40"/>
          <p:cNvSpPr txBox="1"/>
          <p:nvPr/>
        </p:nvSpPr>
        <p:spPr>
          <a:xfrm>
            <a:off x="2432354" y="3868190"/>
            <a:ext cx="856815" cy="37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高度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490;p40"/>
          <p:cNvSpPr txBox="1"/>
          <p:nvPr/>
        </p:nvSpPr>
        <p:spPr>
          <a:xfrm>
            <a:off x="1292402" y="4924991"/>
            <a:ext cx="1132656" cy="6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深度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通道数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515;p42"/>
          <p:cNvSpPr/>
          <p:nvPr/>
        </p:nvSpPr>
        <p:spPr>
          <a:xfrm>
            <a:off x="4144820" y="3162058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3919080" y="2482585"/>
            <a:ext cx="2093080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核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519;p42"/>
          <p:cNvSpPr txBox="1"/>
          <p:nvPr/>
        </p:nvSpPr>
        <p:spPr>
          <a:xfrm>
            <a:off x="4779980" y="1369637"/>
            <a:ext cx="3282645" cy="68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滤波对不同通道同时处理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Google Shape;520;p42"/>
          <p:cNvCxnSpPr/>
          <p:nvPr/>
        </p:nvCxnSpPr>
        <p:spPr>
          <a:xfrm flipH="1">
            <a:off x="4132224" y="1970384"/>
            <a:ext cx="589646" cy="525763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21;p42"/>
          <p:cNvCxnSpPr/>
          <p:nvPr/>
        </p:nvCxnSpPr>
        <p:spPr>
          <a:xfrm flipH="1">
            <a:off x="1008201" y="1585831"/>
            <a:ext cx="3673230" cy="201893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518;p42"/>
          <p:cNvSpPr txBox="1"/>
          <p:nvPr/>
        </p:nvSpPr>
        <p:spPr>
          <a:xfrm>
            <a:off x="5196447" y="3516677"/>
            <a:ext cx="3772742" cy="97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799" b="1" dirty="0">
                <a:solidFill>
                  <a:prstClr val="black"/>
                </a:solidFill>
                <a:latin typeface="Calibri" panose="020F0502020204030204"/>
              </a:rPr>
              <a:t>滤波核和图像卷积</a:t>
            </a:r>
            <a:endParaRPr lang="zh-CN" altLang="en-US" sz="17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25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2053569" y="2491612"/>
            <a:ext cx="1614386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1637973" y="3020207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551;p44"/>
          <p:cNvSpPr/>
          <p:nvPr/>
        </p:nvSpPr>
        <p:spPr>
          <a:xfrm>
            <a:off x="3233807" y="3285937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553;p44"/>
          <p:cNvCxnSpPr/>
          <p:nvPr/>
        </p:nvCxnSpPr>
        <p:spPr>
          <a:xfrm>
            <a:off x="1764190" y="3189812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54;p44"/>
          <p:cNvCxnSpPr/>
          <p:nvPr/>
        </p:nvCxnSpPr>
        <p:spPr>
          <a:xfrm>
            <a:off x="1900355" y="3040451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555;p44"/>
          <p:cNvCxnSpPr/>
          <p:nvPr/>
        </p:nvCxnSpPr>
        <p:spPr>
          <a:xfrm rot="10800000" flipH="1">
            <a:off x="1926448" y="3427051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Google Shape;541;p43"/>
          <p:cNvCxnSpPr/>
          <p:nvPr/>
        </p:nvCxnSpPr>
        <p:spPr>
          <a:xfrm flipH="1" flipV="1">
            <a:off x="3602377" y="3538888"/>
            <a:ext cx="460337" cy="20045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542;p43"/>
          <p:cNvSpPr txBox="1"/>
          <p:nvPr/>
        </p:nvSpPr>
        <p:spPr>
          <a:xfrm>
            <a:off x="4069915" y="3606454"/>
            <a:ext cx="5014694" cy="128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</a:t>
            </a:r>
            <a:r>
              <a:rPr kumimoji="0" lang="zh-CN" alt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向量和</a:t>
            </a:r>
            <a:r>
              <a:rPr lang="en-US" altLang="zh-CN" sz="1799" dirty="0">
                <a:solidFill>
                  <a:prstClr val="black"/>
                </a:solidFill>
                <a:latin typeface="Calibri" panose="020F0502020204030204"/>
              </a:rPr>
              <a:t>3x</a:t>
            </a:r>
            <a:r>
              <a:rPr lang="en" altLang="zh-CN" sz="1799" dirty="0">
                <a:solidFill>
                  <a:prstClr val="black"/>
                </a:solidFill>
                <a:latin typeface="Calibri" panose="020F0502020204030204"/>
              </a:rPr>
              <a:t>5x5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点积结果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(i.e.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3*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5*5 = 75-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维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点积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偏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置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Google Shape;54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5602" y="4892689"/>
            <a:ext cx="1225321" cy="393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768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2053569" y="2491612"/>
            <a:ext cx="1614386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1637973" y="3020207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551;p44"/>
          <p:cNvSpPr/>
          <p:nvPr/>
        </p:nvSpPr>
        <p:spPr>
          <a:xfrm>
            <a:off x="3233807" y="3285937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553;p44"/>
          <p:cNvCxnSpPr/>
          <p:nvPr/>
        </p:nvCxnSpPr>
        <p:spPr>
          <a:xfrm>
            <a:off x="1764190" y="3189812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54;p44"/>
          <p:cNvCxnSpPr/>
          <p:nvPr/>
        </p:nvCxnSpPr>
        <p:spPr>
          <a:xfrm>
            <a:off x="1900355" y="3040451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555;p44"/>
          <p:cNvCxnSpPr/>
          <p:nvPr/>
        </p:nvCxnSpPr>
        <p:spPr>
          <a:xfrm rot="10800000" flipH="1">
            <a:off x="1926448" y="3427051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3667955" y="3427051"/>
            <a:ext cx="3289677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565;p44"/>
          <p:cNvSpPr txBox="1"/>
          <p:nvPr/>
        </p:nvSpPr>
        <p:spPr>
          <a:xfrm>
            <a:off x="4189958" y="3545576"/>
            <a:ext cx="2183591" cy="81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对整幅图像做卷积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373548" y="1159445"/>
            <a:ext cx="2302907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1x28x28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激活图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568;p44"/>
          <p:cNvSpPr txBox="1"/>
          <p:nvPr/>
        </p:nvSpPr>
        <p:spPr>
          <a:xfrm>
            <a:off x="6957631" y="4761232"/>
            <a:ext cx="328115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569;p44"/>
          <p:cNvSpPr txBox="1"/>
          <p:nvPr/>
        </p:nvSpPr>
        <p:spPr>
          <a:xfrm>
            <a:off x="7624967" y="430567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570;p44"/>
          <p:cNvSpPr txBox="1"/>
          <p:nvPr/>
        </p:nvSpPr>
        <p:spPr>
          <a:xfrm>
            <a:off x="8029262" y="289505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79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2053569" y="2491612"/>
            <a:ext cx="1614386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1637973" y="3020207"/>
            <a:ext cx="282227" cy="813688"/>
          </a:xfrm>
          <a:prstGeom prst="cube">
            <a:avLst>
              <a:gd name="adj" fmla="val 53382"/>
            </a:avLst>
          </a:prstGeom>
          <a:solidFill>
            <a:schemeClr val="accent6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551;p44"/>
          <p:cNvSpPr/>
          <p:nvPr/>
        </p:nvSpPr>
        <p:spPr>
          <a:xfrm>
            <a:off x="3233807" y="3285937"/>
            <a:ext cx="282227" cy="28222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553;p44"/>
          <p:cNvCxnSpPr/>
          <p:nvPr/>
        </p:nvCxnSpPr>
        <p:spPr>
          <a:xfrm>
            <a:off x="1764190" y="3189812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54;p44"/>
          <p:cNvCxnSpPr/>
          <p:nvPr/>
        </p:nvCxnSpPr>
        <p:spPr>
          <a:xfrm>
            <a:off x="1900355" y="3040451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555;p44"/>
          <p:cNvCxnSpPr/>
          <p:nvPr/>
        </p:nvCxnSpPr>
        <p:spPr>
          <a:xfrm rot="10800000" flipH="1">
            <a:off x="1926448" y="3427051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3667955" y="3427051"/>
            <a:ext cx="3289677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565;p44"/>
          <p:cNvSpPr txBox="1"/>
          <p:nvPr/>
        </p:nvSpPr>
        <p:spPr>
          <a:xfrm>
            <a:off x="4189958" y="3545576"/>
            <a:ext cx="2183591" cy="81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578203" y="1163650"/>
            <a:ext cx="217084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两个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1x28x28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激活图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568;p44"/>
          <p:cNvSpPr txBox="1"/>
          <p:nvPr/>
        </p:nvSpPr>
        <p:spPr>
          <a:xfrm>
            <a:off x="6957631" y="4761232"/>
            <a:ext cx="328115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570;p44"/>
          <p:cNvSpPr txBox="1"/>
          <p:nvPr/>
        </p:nvSpPr>
        <p:spPr>
          <a:xfrm>
            <a:off x="8029262" y="289505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592;p45"/>
          <p:cNvSpPr/>
          <p:nvPr/>
        </p:nvSpPr>
        <p:spPr>
          <a:xfrm>
            <a:off x="7450987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594;p45"/>
          <p:cNvSpPr txBox="1"/>
          <p:nvPr/>
        </p:nvSpPr>
        <p:spPr>
          <a:xfrm>
            <a:off x="7335511" y="4761232"/>
            <a:ext cx="328115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595;p45"/>
          <p:cNvSpPr txBox="1"/>
          <p:nvPr/>
        </p:nvSpPr>
        <p:spPr>
          <a:xfrm>
            <a:off x="8002845" y="430567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596;p45"/>
          <p:cNvSpPr txBox="1"/>
          <p:nvPr/>
        </p:nvSpPr>
        <p:spPr>
          <a:xfrm>
            <a:off x="8407140" y="289505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16571" y="1687700"/>
            <a:ext cx="3179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考虑第二个滤波核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14431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62884"/>
            <a:ext cx="4353023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578203" y="116365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1x28x28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4972" y="1904554"/>
            <a:ext cx="2317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考虑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6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个滤波核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3x5x5 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722373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737609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752845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768081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83317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卷积层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6" y="3498794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6x3x5x5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567;p44"/>
          <p:cNvSpPr txBox="1"/>
          <p:nvPr/>
        </p:nvSpPr>
        <p:spPr>
          <a:xfrm>
            <a:off x="5864879" y="4805642"/>
            <a:ext cx="3314171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组合得到输出图像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6x28x28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826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1310"/>
            <a:ext cx="4353023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578203" y="116365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6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激活图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每个 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1x28x28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644" y="1753365"/>
            <a:ext cx="304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6-dim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722373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737609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752845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768081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83317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卷积层</a:t>
            </a:r>
            <a:endParaRPr lang="en-US" altLang="zh-CN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6" y="3498794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6x3x5x5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567;p44"/>
          <p:cNvSpPr txBox="1"/>
          <p:nvPr/>
        </p:nvSpPr>
        <p:spPr>
          <a:xfrm>
            <a:off x="5864879" y="4805642"/>
            <a:ext cx="3314171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组合得到输出图像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6</a:t>
            </a:r>
            <a:r>
              <a:rPr lang="en" altLang="zh-CN" sz="2400" dirty="0">
                <a:solidFill>
                  <a:prstClr val="black"/>
                </a:solidFill>
                <a:latin typeface="Calibri" panose="020F0502020204030204"/>
              </a:rPr>
              <a:t>x28x28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9981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24" y="597345"/>
            <a:ext cx="4165826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567;p44"/>
          <p:cNvSpPr txBox="1"/>
          <p:nvPr/>
        </p:nvSpPr>
        <p:spPr>
          <a:xfrm>
            <a:off x="6107100" y="1020741"/>
            <a:ext cx="2682225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28x28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每一个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维向量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14644" y="1753365"/>
            <a:ext cx="304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6-dim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偏置向量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卷积层</a:t>
            </a:r>
            <a:endParaRPr lang="en-US" altLang="zh-CN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6" y="3498794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6x3x5x5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567;p44"/>
          <p:cNvSpPr txBox="1"/>
          <p:nvPr/>
        </p:nvSpPr>
        <p:spPr>
          <a:xfrm>
            <a:off x="5864879" y="4805642"/>
            <a:ext cx="3314171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组合得到输出图像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6</a:t>
            </a:r>
            <a:r>
              <a:rPr lang="en" altLang="zh-CN" sz="2400" dirty="0">
                <a:solidFill>
                  <a:prstClr val="black"/>
                </a:solidFill>
                <a:latin typeface="Calibri" panose="020F0502020204030204"/>
              </a:rPr>
              <a:t>x28x28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Google Shape;611;p46"/>
          <p:cNvSpPr/>
          <p:nvPr/>
        </p:nvSpPr>
        <p:spPr>
          <a:xfrm>
            <a:off x="722373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617;p46"/>
          <p:cNvSpPr/>
          <p:nvPr/>
        </p:nvSpPr>
        <p:spPr>
          <a:xfrm>
            <a:off x="737609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618;p46"/>
          <p:cNvSpPr/>
          <p:nvPr/>
        </p:nvSpPr>
        <p:spPr>
          <a:xfrm>
            <a:off x="752845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Google Shape;619;p46"/>
          <p:cNvSpPr/>
          <p:nvPr/>
        </p:nvSpPr>
        <p:spPr>
          <a:xfrm>
            <a:off x="768081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Google Shape;620;p46"/>
          <p:cNvSpPr/>
          <p:nvPr/>
        </p:nvSpPr>
        <p:spPr>
          <a:xfrm>
            <a:off x="783317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531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367" y="543852"/>
            <a:ext cx="4080882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219934" y="1464922"/>
            <a:ext cx="2157702" cy="9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2x3x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</a:t>
            </a: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批量图像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6300495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667906" y="106770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2x6x28x28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批量输出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14644" y="1753365"/>
            <a:ext cx="304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6-dim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645112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660348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675584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690820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060562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卷积层</a:t>
            </a:r>
            <a:endParaRPr lang="en-US" altLang="zh-CN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5" y="3498794"/>
            <a:ext cx="51494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6x3x5x5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" name="Google Shape;481;p40"/>
          <p:cNvSpPr/>
          <p:nvPr/>
        </p:nvSpPr>
        <p:spPr>
          <a:xfrm>
            <a:off x="62630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566;p44"/>
          <p:cNvSpPr/>
          <p:nvPr/>
        </p:nvSpPr>
        <p:spPr>
          <a:xfrm>
            <a:off x="7769033" y="2058585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611;p46"/>
          <p:cNvSpPr/>
          <p:nvPr/>
        </p:nvSpPr>
        <p:spPr>
          <a:xfrm>
            <a:off x="791965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617;p46"/>
          <p:cNvSpPr/>
          <p:nvPr/>
        </p:nvSpPr>
        <p:spPr>
          <a:xfrm>
            <a:off x="807201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618;p46"/>
          <p:cNvSpPr/>
          <p:nvPr/>
        </p:nvSpPr>
        <p:spPr>
          <a:xfrm>
            <a:off x="822437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619;p46"/>
          <p:cNvSpPr/>
          <p:nvPr/>
        </p:nvSpPr>
        <p:spPr>
          <a:xfrm>
            <a:off x="837673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620;p46"/>
          <p:cNvSpPr/>
          <p:nvPr/>
        </p:nvSpPr>
        <p:spPr>
          <a:xfrm>
            <a:off x="852909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637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536" y="640715"/>
            <a:ext cx="4165826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46082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799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219934" y="1464922"/>
            <a:ext cx="2157702" cy="9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399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H x W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批量图像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6300495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667906" y="106770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H’ x W’</a:t>
            </a:r>
          </a:p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批量输出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645" y="1753365"/>
            <a:ext cx="333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-dim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645112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660348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675584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690820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060562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卷积层</a:t>
            </a:r>
            <a:endParaRPr lang="en-US" altLang="zh-CN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5" y="3498794"/>
            <a:ext cx="51494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055376" y="4671379"/>
            <a:ext cx="1954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filters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" name="Google Shape;481;p40"/>
          <p:cNvSpPr/>
          <p:nvPr/>
        </p:nvSpPr>
        <p:spPr>
          <a:xfrm>
            <a:off x="62630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566;p44"/>
          <p:cNvSpPr/>
          <p:nvPr/>
        </p:nvSpPr>
        <p:spPr>
          <a:xfrm>
            <a:off x="7769033" y="2058585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611;p46"/>
          <p:cNvSpPr/>
          <p:nvPr/>
        </p:nvSpPr>
        <p:spPr>
          <a:xfrm>
            <a:off x="791965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617;p46"/>
          <p:cNvSpPr/>
          <p:nvPr/>
        </p:nvSpPr>
        <p:spPr>
          <a:xfrm>
            <a:off x="807201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618;p46"/>
          <p:cNvSpPr/>
          <p:nvPr/>
        </p:nvSpPr>
        <p:spPr>
          <a:xfrm>
            <a:off x="822437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619;p46"/>
          <p:cNvSpPr/>
          <p:nvPr/>
        </p:nvSpPr>
        <p:spPr>
          <a:xfrm>
            <a:off x="837673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620;p46"/>
          <p:cNvSpPr/>
          <p:nvPr/>
        </p:nvSpPr>
        <p:spPr>
          <a:xfrm>
            <a:off x="852909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Google Shape;485;p40"/>
          <p:cNvSpPr txBox="1"/>
          <p:nvPr/>
        </p:nvSpPr>
        <p:spPr>
          <a:xfrm>
            <a:off x="6409004" y="4788946"/>
            <a:ext cx="538712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799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285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altLang="zh-CN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6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410914" y="1065415"/>
            <a:ext cx="564907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卷积层级联</a:t>
            </a:r>
            <a:r>
              <a:rPr lang="en-US" dirty="0"/>
              <a:t>Stacking Convolutions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3782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47" name="Google Shape;657;p48"/>
          <p:cNvCxnSpPr>
            <a:endCxn id="46" idx="1"/>
          </p:cNvCxnSpPr>
          <p:nvPr/>
        </p:nvCxnSpPr>
        <p:spPr>
          <a:xfrm>
            <a:off x="1406325" y="3192443"/>
            <a:ext cx="427457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657;p48"/>
          <p:cNvCxnSpPr>
            <a:stCxn id="46" idx="3"/>
          </p:cNvCxnSpPr>
          <p:nvPr/>
        </p:nvCxnSpPr>
        <p:spPr>
          <a:xfrm flipV="1">
            <a:off x="2563790" y="3192443"/>
            <a:ext cx="361711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stCxn id="27" idx="0"/>
            <a:endCxn id="46" idx="2"/>
          </p:cNvCxnSpPr>
          <p:nvPr/>
        </p:nvCxnSpPr>
        <p:spPr>
          <a:xfrm flipV="1">
            <a:off x="2174981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4472876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8" name="Google Shape;657;p48"/>
          <p:cNvCxnSpPr>
            <a:endCxn id="57" idx="1"/>
          </p:cNvCxnSpPr>
          <p:nvPr/>
        </p:nvCxnSpPr>
        <p:spPr>
          <a:xfrm>
            <a:off x="4045420" y="3192443"/>
            <a:ext cx="427456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657;p48"/>
          <p:cNvCxnSpPr>
            <a:stCxn id="57" idx="3"/>
          </p:cNvCxnSpPr>
          <p:nvPr/>
        </p:nvCxnSpPr>
        <p:spPr>
          <a:xfrm flipV="1">
            <a:off x="5202884" y="3192443"/>
            <a:ext cx="361712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657;p48"/>
          <p:cNvCxnSpPr>
            <a:endCxn id="57" idx="2"/>
          </p:cNvCxnSpPr>
          <p:nvPr/>
        </p:nvCxnSpPr>
        <p:spPr>
          <a:xfrm flipV="1">
            <a:off x="4814075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7206019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66" name="Google Shape;657;p48"/>
          <p:cNvCxnSpPr/>
          <p:nvPr/>
        </p:nvCxnSpPr>
        <p:spPr>
          <a:xfrm flipV="1">
            <a:off x="6778562" y="3189455"/>
            <a:ext cx="427457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57;p48"/>
          <p:cNvCxnSpPr/>
          <p:nvPr/>
        </p:nvCxnSpPr>
        <p:spPr>
          <a:xfrm>
            <a:off x="7888417" y="3189455"/>
            <a:ext cx="409322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57;p48"/>
          <p:cNvCxnSpPr/>
          <p:nvPr/>
        </p:nvCxnSpPr>
        <p:spPr>
          <a:xfrm flipV="1">
            <a:off x="7547218" y="3385662"/>
            <a:ext cx="0" cy="35436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</a:t>
            </a:r>
          </a:p>
        </p:txBody>
      </p:sp>
    </p:spTree>
    <p:extLst>
      <p:ext uri="{BB962C8B-B14F-4D97-AF65-F5344CB8AC3E}">
        <p14:creationId xmlns:p14="http://schemas.microsoft.com/office/powerpoint/2010/main" val="259555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altLang="zh-CN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6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13130" y="399351"/>
            <a:ext cx="6052388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卷积层级联</a:t>
            </a:r>
            <a:r>
              <a:rPr lang="en-US" dirty="0"/>
              <a:t>Stacking Convolutions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3782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47" name="Google Shape;657;p48"/>
          <p:cNvCxnSpPr>
            <a:endCxn id="46" idx="1"/>
          </p:cNvCxnSpPr>
          <p:nvPr/>
        </p:nvCxnSpPr>
        <p:spPr>
          <a:xfrm>
            <a:off x="1406325" y="3192443"/>
            <a:ext cx="427457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657;p48"/>
          <p:cNvCxnSpPr>
            <a:stCxn id="46" idx="3"/>
          </p:cNvCxnSpPr>
          <p:nvPr/>
        </p:nvCxnSpPr>
        <p:spPr>
          <a:xfrm flipV="1">
            <a:off x="2563790" y="3192443"/>
            <a:ext cx="361711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stCxn id="27" idx="0"/>
            <a:endCxn id="46" idx="2"/>
          </p:cNvCxnSpPr>
          <p:nvPr/>
        </p:nvCxnSpPr>
        <p:spPr>
          <a:xfrm flipV="1">
            <a:off x="2174981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4472876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8" name="Google Shape;657;p48"/>
          <p:cNvCxnSpPr>
            <a:endCxn id="57" idx="1"/>
          </p:cNvCxnSpPr>
          <p:nvPr/>
        </p:nvCxnSpPr>
        <p:spPr>
          <a:xfrm>
            <a:off x="4045420" y="3192443"/>
            <a:ext cx="427456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657;p48"/>
          <p:cNvCxnSpPr>
            <a:stCxn id="57" idx="3"/>
          </p:cNvCxnSpPr>
          <p:nvPr/>
        </p:nvCxnSpPr>
        <p:spPr>
          <a:xfrm flipV="1">
            <a:off x="5202884" y="3192443"/>
            <a:ext cx="361712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657;p48"/>
          <p:cNvCxnSpPr>
            <a:endCxn id="57" idx="2"/>
          </p:cNvCxnSpPr>
          <p:nvPr/>
        </p:nvCxnSpPr>
        <p:spPr>
          <a:xfrm flipV="1">
            <a:off x="4814075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7206019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66" name="Google Shape;657;p48"/>
          <p:cNvCxnSpPr/>
          <p:nvPr/>
        </p:nvCxnSpPr>
        <p:spPr>
          <a:xfrm flipV="1">
            <a:off x="6778562" y="3189455"/>
            <a:ext cx="427457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57;p48"/>
          <p:cNvCxnSpPr/>
          <p:nvPr/>
        </p:nvCxnSpPr>
        <p:spPr>
          <a:xfrm>
            <a:off x="7888417" y="3189455"/>
            <a:ext cx="409322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57;p48"/>
          <p:cNvCxnSpPr/>
          <p:nvPr/>
        </p:nvCxnSpPr>
        <p:spPr>
          <a:xfrm flipV="1">
            <a:off x="7547218" y="3385662"/>
            <a:ext cx="0" cy="35436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2E646E-E7B2-4DD6-9A73-B3C878FA1020}"/>
              </a:ext>
            </a:extLst>
          </p:cNvPr>
          <p:cNvSpPr txBox="1"/>
          <p:nvPr/>
        </p:nvSpPr>
        <p:spPr>
          <a:xfrm>
            <a:off x="4392351" y="951348"/>
            <a:ext cx="3154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多个卷积直接级联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一个卷积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如何修正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8E394B-7738-4901-8FE2-8FFE8506FAFC}"/>
              </a:ext>
            </a:extLst>
          </p:cNvPr>
          <p:cNvSpPr txBox="1"/>
          <p:nvPr/>
        </p:nvSpPr>
        <p:spPr>
          <a:xfrm>
            <a:off x="7206019" y="930634"/>
            <a:ext cx="1903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(y=W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等效为一个线性分类器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513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347463"/>
            <a:ext cx="659500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卷积层级联</a:t>
            </a:r>
            <a:r>
              <a:rPr lang="en-US" dirty="0"/>
              <a:t>Stacking Convolutions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6018" y="930634"/>
            <a:ext cx="193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en-US" altLang="zh-CN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y=W</a:t>
            </a:r>
            <a:r>
              <a:rPr lang="en-US" altLang="zh-CN" baseline="-25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2</a:t>
            </a:r>
            <a:r>
              <a:rPr lang="en-US" altLang="zh-CN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W</a:t>
            </a:r>
            <a:r>
              <a:rPr lang="en-US" altLang="zh-CN" baseline="-25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1</a:t>
            </a:r>
            <a:r>
              <a:rPr lang="en-US" altLang="zh-CN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x </a:t>
            </a:r>
            <a:r>
              <a:rPr lang="en-US" altLang="zh-CN" dirty="0" err="1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等效为一个线性分类器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4144375" y="2994694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5" name="Google Shape;657;p48"/>
          <p:cNvCxnSpPr/>
          <p:nvPr/>
        </p:nvCxnSpPr>
        <p:spPr>
          <a:xfrm>
            <a:off x="4749253" y="3167819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Google Shape;657;p48"/>
          <p:cNvCxnSpPr/>
          <p:nvPr/>
        </p:nvCxnSpPr>
        <p:spPr>
          <a:xfrm flipV="1">
            <a:off x="4444283" y="3340943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4848146" y="2994694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2" name="Google Shape;657;p48"/>
          <p:cNvCxnSpPr/>
          <p:nvPr/>
        </p:nvCxnSpPr>
        <p:spPr>
          <a:xfrm>
            <a:off x="3974209" y="3167819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57;p48"/>
          <p:cNvCxnSpPr/>
          <p:nvPr/>
        </p:nvCxnSpPr>
        <p:spPr>
          <a:xfrm flipV="1">
            <a:off x="5463556" y="3167819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6923749" y="2996139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70" name="Google Shape;657;p48"/>
          <p:cNvCxnSpPr/>
          <p:nvPr/>
        </p:nvCxnSpPr>
        <p:spPr>
          <a:xfrm>
            <a:off x="7528627" y="3169264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657;p48"/>
          <p:cNvCxnSpPr/>
          <p:nvPr/>
        </p:nvCxnSpPr>
        <p:spPr>
          <a:xfrm flipV="1">
            <a:off x="7223657" y="3342388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TextBox 71"/>
          <p:cNvSpPr txBox="1"/>
          <p:nvPr/>
        </p:nvSpPr>
        <p:spPr>
          <a:xfrm>
            <a:off x="7627520" y="2996139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3" name="Google Shape;657;p48"/>
          <p:cNvCxnSpPr/>
          <p:nvPr/>
        </p:nvCxnSpPr>
        <p:spPr>
          <a:xfrm>
            <a:off x="6753583" y="3169264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657;p48"/>
          <p:cNvCxnSpPr/>
          <p:nvPr/>
        </p:nvCxnSpPr>
        <p:spPr>
          <a:xfrm flipV="1">
            <a:off x="8242930" y="3169264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4F09D96-86FC-41E0-AE3C-72098BF8B459}"/>
              </a:ext>
            </a:extLst>
          </p:cNvPr>
          <p:cNvSpPr txBox="1"/>
          <p:nvPr/>
        </p:nvSpPr>
        <p:spPr>
          <a:xfrm>
            <a:off x="4392351" y="951348"/>
            <a:ext cx="3154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多个卷积直接级联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一个卷积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如何修正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非线性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970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4144375" y="2994694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5" name="Google Shape;657;p48"/>
          <p:cNvCxnSpPr/>
          <p:nvPr/>
        </p:nvCxnSpPr>
        <p:spPr>
          <a:xfrm>
            <a:off x="4749253" y="3167819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Google Shape;657;p48"/>
          <p:cNvCxnSpPr/>
          <p:nvPr/>
        </p:nvCxnSpPr>
        <p:spPr>
          <a:xfrm flipV="1">
            <a:off x="4444283" y="3340943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4848146" y="2994694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2" name="Google Shape;657;p48"/>
          <p:cNvCxnSpPr/>
          <p:nvPr/>
        </p:nvCxnSpPr>
        <p:spPr>
          <a:xfrm>
            <a:off x="3974209" y="3167819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57;p48"/>
          <p:cNvCxnSpPr/>
          <p:nvPr/>
        </p:nvCxnSpPr>
        <p:spPr>
          <a:xfrm flipV="1">
            <a:off x="5463556" y="3167819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6923749" y="2996139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70" name="Google Shape;657;p48"/>
          <p:cNvCxnSpPr/>
          <p:nvPr/>
        </p:nvCxnSpPr>
        <p:spPr>
          <a:xfrm>
            <a:off x="7528627" y="3169264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657;p48"/>
          <p:cNvCxnSpPr/>
          <p:nvPr/>
        </p:nvCxnSpPr>
        <p:spPr>
          <a:xfrm flipV="1">
            <a:off x="7223657" y="3342388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TextBox 71"/>
          <p:cNvSpPr txBox="1"/>
          <p:nvPr/>
        </p:nvSpPr>
        <p:spPr>
          <a:xfrm>
            <a:off x="7627520" y="2996139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3" name="Google Shape;657;p48"/>
          <p:cNvCxnSpPr/>
          <p:nvPr/>
        </p:nvCxnSpPr>
        <p:spPr>
          <a:xfrm>
            <a:off x="6753583" y="3169264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657;p48"/>
          <p:cNvCxnSpPr/>
          <p:nvPr/>
        </p:nvCxnSpPr>
        <p:spPr>
          <a:xfrm flipV="1">
            <a:off x="8242930" y="3169264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215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Google Shape;449;p61"/>
          <p:cNvPicPr preferRelativeResize="0"/>
          <p:nvPr/>
        </p:nvPicPr>
        <p:blipFill rotWithShape="1">
          <a:blip r:embed="rId2">
            <a:alphaModFix/>
          </a:blip>
          <a:srcRect r="50136"/>
          <a:stretch/>
        </p:blipFill>
        <p:spPr>
          <a:xfrm>
            <a:off x="4567037" y="2665829"/>
            <a:ext cx="4322364" cy="9169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49" name="Google Shape;449;p61"/>
          <p:cNvPicPr preferRelativeResize="0"/>
          <p:nvPr/>
        </p:nvPicPr>
        <p:blipFill rotWithShape="1">
          <a:blip r:embed="rId2">
            <a:alphaModFix/>
          </a:blip>
          <a:srcRect l="49899" r="-15"/>
          <a:stretch/>
        </p:blipFill>
        <p:spPr>
          <a:xfrm>
            <a:off x="4556113" y="3676607"/>
            <a:ext cx="4344212" cy="9169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57" name="TextBox 56"/>
          <p:cNvSpPr txBox="1"/>
          <p:nvPr/>
        </p:nvSpPr>
        <p:spPr>
          <a:xfrm>
            <a:off x="4805433" y="2214751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每个类别一个模板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174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48244" y="1645019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MLP: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整个图像的特征模板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618" r="1061" b="4910"/>
          <a:stretch/>
        </p:blipFill>
        <p:spPr>
          <a:xfrm>
            <a:off x="5097192" y="1991267"/>
            <a:ext cx="3529445" cy="352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05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227765" y="1646541"/>
            <a:ext cx="3300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第一卷积层权重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局部图像模板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有方向的边缘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相反的颜色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pic>
        <p:nvPicPr>
          <p:cNvPr id="1026" name="Picture 2" descr="https://lh3.googleusercontent.com/6SDufmNatRKAaxNJWGsaWdSAGFtPthQHMADKkjtW7g-cNaC__eQc0rV3ejOPA7SQmL9WFAkZrj6eb4Z81j5PzqqxLFWHXK5mZxrdciJaHjwpaQgzQvY5lB_8QcirvXGGU1GvMuXO6A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723" y="2292253"/>
            <a:ext cx="2803801" cy="280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94293" y="5120697"/>
            <a:ext cx="352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64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3x11x11</a:t>
            </a:r>
          </a:p>
        </p:txBody>
      </p:sp>
    </p:spTree>
    <p:extLst>
      <p:ext uri="{BB962C8B-B14F-4D97-AF65-F5344CB8AC3E}">
        <p14:creationId xmlns:p14="http://schemas.microsoft.com/office/powerpoint/2010/main" val="3995214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61460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7x7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  <a:ea typeface="+mn-ea"/>
              </a:rPr>
              <a:t>滤波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095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1339164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2824469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822396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692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744;p54"/>
          <p:cNvSpPr txBox="1"/>
          <p:nvPr/>
        </p:nvSpPr>
        <p:spPr>
          <a:xfrm>
            <a:off x="4652756" y="3194893"/>
            <a:ext cx="3285669" cy="144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+ 1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6586" y="3150137"/>
            <a:ext cx="210876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尺寸变小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595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185918" y="1578734"/>
          <a:ext cx="3963609" cy="39769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13706" y="906528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744;p54"/>
          <p:cNvSpPr txBox="1"/>
          <p:nvPr/>
        </p:nvSpPr>
        <p:spPr>
          <a:xfrm>
            <a:off x="4652756" y="3194893"/>
            <a:ext cx="3285669" cy="144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  <a:ea typeface="+mn-ea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+ 1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06586" y="3150137"/>
            <a:ext cx="212781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尺寸变小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17291" y="4831192"/>
            <a:ext cx="13949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方法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522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185918" y="1578734"/>
          <a:ext cx="3963609" cy="39769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941482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744;p54"/>
          <p:cNvSpPr txBox="1"/>
          <p:nvPr/>
        </p:nvSpPr>
        <p:spPr>
          <a:xfrm>
            <a:off x="4652755" y="3194893"/>
            <a:ext cx="3871999" cy="189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+ 1 + 2P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6587" y="3194893"/>
            <a:ext cx="2524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设置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 = (K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1) / 2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使得输出尺寸与输入尺寸一致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53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55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步长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2</a:t>
            </a:r>
            <a:endParaRPr lang="zh-CN" alt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8480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步长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2</a:t>
            </a:r>
            <a:endParaRPr lang="zh-CN" alt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744;p54"/>
          <p:cNvSpPr txBox="1"/>
          <p:nvPr/>
        </p:nvSpPr>
        <p:spPr>
          <a:xfrm>
            <a:off x="6645724" y="2019766"/>
            <a:ext cx="1991883" cy="5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79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7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x7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3</a:t>
            </a:r>
            <a:r>
              <a:rPr lang="en" altLang="zh-CN" sz="2700" dirty="0">
                <a:solidFill>
                  <a:prstClr val="black"/>
                </a:solidFill>
                <a:latin typeface="Calibri" panose="020F0502020204030204"/>
              </a:rPr>
              <a:t>x3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步长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: 2</a:t>
            </a:r>
            <a:endParaRPr lang="zh-CN" alt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744;p54"/>
          <p:cNvSpPr txBox="1"/>
          <p:nvPr/>
        </p:nvSpPr>
        <p:spPr>
          <a:xfrm>
            <a:off x="6645724" y="2019766"/>
            <a:ext cx="1991883" cy="5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48023" y="3200450"/>
            <a:ext cx="3672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步长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(W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+ 2P) / S + 1</a:t>
            </a:r>
          </a:p>
        </p:txBody>
      </p:sp>
    </p:spTree>
    <p:extLst>
      <p:ext uri="{BB962C8B-B14F-4D97-AF65-F5344CB8AC3E}">
        <p14:creationId xmlns:p14="http://schemas.microsoft.com/office/powerpoint/2010/main" val="1576330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6555392" cy="29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5x5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组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步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长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1,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输出大小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398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6555392" cy="29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组步长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大小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+2*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)/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+1 = 32,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所以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728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5397953" cy="29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5x5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滤波组步长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?</a:t>
            </a: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160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082964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  <a:ea typeface="+mn-ea"/>
              </a:rPr>
              <a:t>滤波组步长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 x 32 x 32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760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每个滤波核参数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+ 1 (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偏置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个滤波核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所以总共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76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760</a:t>
            </a: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120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082964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 x 32 x 32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5x5</a:t>
            </a: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滤波组步长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 x 32 x 32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760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乘法次数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?</a:t>
            </a: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890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941253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32 x 32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</a:t>
            </a: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滤波组步长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1, </a:t>
            </a: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填充</a:t>
            </a:r>
            <a:r>
              <a:rPr lang="en-US" altLang="zh-CN" sz="27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x 32 x 32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760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乘法次数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768,000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10*32*32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10,240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每个输出是两个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张量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(75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个元素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的点积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总计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75*10240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768K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882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1x1 </a:t>
            </a:r>
            <a:r>
              <a:rPr lang="zh-CN" altLang="en-US" dirty="0"/>
              <a:t>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62;p75"/>
          <p:cNvSpPr/>
          <p:nvPr/>
        </p:nvSpPr>
        <p:spPr>
          <a:xfrm>
            <a:off x="1074524" y="2051951"/>
            <a:ext cx="1685561" cy="2701997"/>
          </a:xfrm>
          <a:prstGeom prst="cube">
            <a:avLst>
              <a:gd name="adj" fmla="val 41438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963;p75"/>
          <p:cNvSpPr txBox="1"/>
          <p:nvPr/>
        </p:nvSpPr>
        <p:spPr>
          <a:xfrm>
            <a:off x="1328708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64;p75"/>
          <p:cNvSpPr txBox="1"/>
          <p:nvPr/>
        </p:nvSpPr>
        <p:spPr>
          <a:xfrm>
            <a:off x="2362264" y="432895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65;p75"/>
          <p:cNvSpPr txBox="1"/>
          <p:nvPr/>
        </p:nvSpPr>
        <p:spPr>
          <a:xfrm>
            <a:off x="2765384" y="2893420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966;p75"/>
          <p:cNvCxnSpPr/>
          <p:nvPr/>
        </p:nvCxnSpPr>
        <p:spPr>
          <a:xfrm>
            <a:off x="3936879" y="3430242"/>
            <a:ext cx="155629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967;p75"/>
          <p:cNvSpPr txBox="1"/>
          <p:nvPr/>
        </p:nvSpPr>
        <p:spPr>
          <a:xfrm>
            <a:off x="3990564" y="2664892"/>
            <a:ext cx="1780037" cy="42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1x1 CONV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滤波核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968;p75"/>
          <p:cNvSpPr/>
          <p:nvPr/>
        </p:nvSpPr>
        <p:spPr>
          <a:xfrm>
            <a:off x="6244953" y="2051951"/>
            <a:ext cx="1149001" cy="2701997"/>
          </a:xfrm>
          <a:prstGeom prst="cube">
            <a:avLst>
              <a:gd name="adj" fmla="val 49731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969;p75"/>
          <p:cNvSpPr txBox="1"/>
          <p:nvPr/>
        </p:nvSpPr>
        <p:spPr>
          <a:xfrm>
            <a:off x="6267146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970;p75"/>
          <p:cNvSpPr txBox="1"/>
          <p:nvPr/>
        </p:nvSpPr>
        <p:spPr>
          <a:xfrm>
            <a:off x="7224522" y="440513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971;p75"/>
          <p:cNvSpPr txBox="1"/>
          <p:nvPr/>
        </p:nvSpPr>
        <p:spPr>
          <a:xfrm>
            <a:off x="7600499" y="3072374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972;p75"/>
          <p:cNvSpPr txBox="1"/>
          <p:nvPr/>
        </p:nvSpPr>
        <p:spPr>
          <a:xfrm>
            <a:off x="3587769" y="3447688"/>
            <a:ext cx="2853457" cy="60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滤波核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1x1x64,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执行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64-dimensional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点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积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142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举例</a:t>
            </a:r>
            <a:r>
              <a:rPr lang="en-US" altLang="zh-CN" dirty="0"/>
              <a:t>: 1x1 </a:t>
            </a:r>
            <a:r>
              <a:rPr lang="zh-CN" altLang="en-US" dirty="0"/>
              <a:t>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62;p75"/>
          <p:cNvSpPr/>
          <p:nvPr/>
        </p:nvSpPr>
        <p:spPr>
          <a:xfrm>
            <a:off x="1074524" y="2051951"/>
            <a:ext cx="1685561" cy="2701997"/>
          </a:xfrm>
          <a:prstGeom prst="cube">
            <a:avLst>
              <a:gd name="adj" fmla="val 41438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963;p75"/>
          <p:cNvSpPr txBox="1"/>
          <p:nvPr/>
        </p:nvSpPr>
        <p:spPr>
          <a:xfrm>
            <a:off x="1328708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64;p75"/>
          <p:cNvSpPr txBox="1"/>
          <p:nvPr/>
        </p:nvSpPr>
        <p:spPr>
          <a:xfrm>
            <a:off x="2362264" y="432895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65;p75"/>
          <p:cNvSpPr txBox="1"/>
          <p:nvPr/>
        </p:nvSpPr>
        <p:spPr>
          <a:xfrm>
            <a:off x="2765384" y="2893420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966;p75"/>
          <p:cNvCxnSpPr/>
          <p:nvPr/>
        </p:nvCxnSpPr>
        <p:spPr>
          <a:xfrm>
            <a:off x="3936879" y="3430242"/>
            <a:ext cx="155629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967;p75"/>
          <p:cNvSpPr txBox="1"/>
          <p:nvPr/>
        </p:nvSpPr>
        <p:spPr>
          <a:xfrm>
            <a:off x="3990564" y="2664892"/>
            <a:ext cx="1780037" cy="42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1x1 CONV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799" dirty="0">
                <a:solidFill>
                  <a:prstClr val="black"/>
                </a:solidFill>
                <a:latin typeface="Calibri" panose="020F0502020204030204"/>
              </a:rPr>
              <a:t>32 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个滤波核</a:t>
            </a:r>
          </a:p>
        </p:txBody>
      </p:sp>
      <p:sp>
        <p:nvSpPr>
          <p:cNvPr id="10" name="Google Shape;968;p75"/>
          <p:cNvSpPr/>
          <p:nvPr/>
        </p:nvSpPr>
        <p:spPr>
          <a:xfrm>
            <a:off x="6244953" y="2051951"/>
            <a:ext cx="1149001" cy="2701997"/>
          </a:xfrm>
          <a:prstGeom prst="cube">
            <a:avLst>
              <a:gd name="adj" fmla="val 49731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969;p75"/>
          <p:cNvSpPr txBox="1"/>
          <p:nvPr/>
        </p:nvSpPr>
        <p:spPr>
          <a:xfrm>
            <a:off x="6267146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970;p75"/>
          <p:cNvSpPr txBox="1"/>
          <p:nvPr/>
        </p:nvSpPr>
        <p:spPr>
          <a:xfrm>
            <a:off x="7224522" y="440513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971;p75"/>
          <p:cNvSpPr txBox="1"/>
          <p:nvPr/>
        </p:nvSpPr>
        <p:spPr>
          <a:xfrm>
            <a:off x="7600499" y="3072374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972;p75"/>
          <p:cNvSpPr txBox="1"/>
          <p:nvPr/>
        </p:nvSpPr>
        <p:spPr>
          <a:xfrm>
            <a:off x="3587769" y="3447688"/>
            <a:ext cx="2853457" cy="60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1799" dirty="0">
                <a:solidFill>
                  <a:srgbClr val="0000FF"/>
                </a:solidFill>
                <a:latin typeface="Calibri" panose="020F0502020204030204"/>
              </a:rPr>
              <a:t>每个</a:t>
            </a:r>
            <a:r>
              <a:rPr lang="zh-CN" altLang="en-US" sz="1799" dirty="0">
                <a:solidFill>
                  <a:srgbClr val="0000FF"/>
                </a:solidFill>
                <a:latin typeface="Calibri" panose="020F0502020204030204"/>
              </a:rPr>
              <a:t>滤波核</a:t>
            </a:r>
            <a:r>
              <a:rPr lang="en" altLang="zh-CN" sz="1799" dirty="0">
                <a:solidFill>
                  <a:srgbClr val="0000FF"/>
                </a:solidFill>
                <a:latin typeface="Calibri" panose="020F0502020204030204"/>
              </a:rPr>
              <a:t>1x1x64, </a:t>
            </a:r>
            <a:r>
              <a:rPr lang="zh-CN" altLang="en" sz="1799" dirty="0">
                <a:solidFill>
                  <a:srgbClr val="0000FF"/>
                </a:solidFill>
                <a:latin typeface="Calibri" panose="020F0502020204030204"/>
              </a:rPr>
              <a:t>执行</a:t>
            </a:r>
            <a:r>
              <a:rPr lang="en" altLang="zh-CN" sz="1799" dirty="0">
                <a:solidFill>
                  <a:srgbClr val="0000FF"/>
                </a:solidFill>
                <a:latin typeface="Calibri" panose="020F0502020204030204"/>
              </a:rPr>
              <a:t>64-dimensional </a:t>
            </a:r>
            <a:r>
              <a:rPr lang="zh-CN" altLang="en" sz="1799" dirty="0">
                <a:solidFill>
                  <a:srgbClr val="0000FF"/>
                </a:solidFill>
                <a:latin typeface="Calibri" panose="020F0502020204030204"/>
              </a:rPr>
              <a:t>点</a:t>
            </a:r>
            <a:r>
              <a:rPr lang="zh-CN" altLang="en-US" sz="1799" dirty="0">
                <a:solidFill>
                  <a:srgbClr val="0000FF"/>
                </a:solidFill>
                <a:latin typeface="Calibri" panose="020F0502020204030204"/>
              </a:rPr>
              <a:t>积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5696" y="5341290"/>
            <a:ext cx="31418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 et al, “Network in Network”, ICLR 2014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1315" y="4526182"/>
            <a:ext cx="2797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1x1 conv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层压缩输入通道数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733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1131094"/>
            <a:ext cx="36989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253" y="1644361"/>
            <a:ext cx="42566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超参数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核大小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核数量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步长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权重矩阵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个大小为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滤波核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偏置向量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输出大小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H’ x W’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这里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H’ = (H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+ 2P) / S + 1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W’ = (W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+ 2P) / S + 1</a:t>
            </a:r>
          </a:p>
        </p:txBody>
      </p:sp>
    </p:spTree>
    <p:extLst>
      <p:ext uri="{BB962C8B-B14F-4D97-AF65-F5344CB8AC3E}">
        <p14:creationId xmlns:p14="http://schemas.microsoft.com/office/powerpoint/2010/main" val="694375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1131094"/>
            <a:ext cx="36989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253" y="1644361"/>
            <a:ext cx="42566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H x W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超参数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marL="342900" lvl="0" indent="-342900" defTabSz="6858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核大小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W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 defTabSz="6858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核数量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342900" lvl="0" indent="-342900" defTabSz="6858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填充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P</a:t>
            </a:r>
          </a:p>
          <a:p>
            <a:pPr marL="342900" lvl="0" indent="-342900" defTabSz="6858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步长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S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权重矩阵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个大小为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K</a:t>
            </a:r>
            <a:r>
              <a:rPr lang="en-US" altLang="zh-CN" sz="2100" baseline="-25000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滤波核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偏置向量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输出大小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sz="2100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sz="2100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x H’ x W’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这里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marL="342900" lvl="0" indent="-342900" defTabSz="6858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H’ = (H </a:t>
            </a:r>
            <a:r>
              <a:rPr lang="mr-IN" altLang="zh-CN" sz="2100" dirty="0">
                <a:solidFill>
                  <a:prstClr val="black"/>
                </a:solidFill>
                <a:latin typeface="Calibri" panose="020F0502020204030204"/>
              </a:rPr>
              <a:t>–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K + 2P) / S + 1</a:t>
            </a:r>
          </a:p>
          <a:p>
            <a:pPr marL="342900" lvl="0" indent="-342900" defTabSz="6858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W’ = (W </a:t>
            </a:r>
            <a:r>
              <a:rPr lang="mr-IN" altLang="zh-CN" sz="2100" dirty="0">
                <a:solidFill>
                  <a:prstClr val="black"/>
                </a:solidFill>
                <a:latin typeface="Calibri" panose="020F0502020204030204"/>
              </a:rPr>
              <a:t>–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 K + 2P) / S + 1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1838" y="1249513"/>
            <a:ext cx="442941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常用设置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等尺寸滤波核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 = (K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1) / 2  (”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相同尺寸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填充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32, 64, 128, 256 (2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的幂次方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= 3, P = 1, S = 1 (3x3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= 5, P = 2, S = 1 (5x5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= 1, P = 0, S = 1 (1x1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= 3, P = 1, S = 2 (2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倍下采样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6003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不同类型卷积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550;p44"/>
          <p:cNvSpPr/>
          <p:nvPr/>
        </p:nvSpPr>
        <p:spPr>
          <a:xfrm>
            <a:off x="1339034" y="3204846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551;p44"/>
          <p:cNvSpPr/>
          <p:nvPr/>
        </p:nvSpPr>
        <p:spPr>
          <a:xfrm>
            <a:off x="2934868" y="3470576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553;p44"/>
          <p:cNvCxnSpPr/>
          <p:nvPr/>
        </p:nvCxnSpPr>
        <p:spPr>
          <a:xfrm>
            <a:off x="1465251" y="3374451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54;p44"/>
          <p:cNvCxnSpPr/>
          <p:nvPr/>
        </p:nvCxnSpPr>
        <p:spPr>
          <a:xfrm>
            <a:off x="1601416" y="3225090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55;p44"/>
          <p:cNvCxnSpPr/>
          <p:nvPr/>
        </p:nvCxnSpPr>
        <p:spPr>
          <a:xfrm rot="10800000" flipH="1">
            <a:off x="1627509" y="3611690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81;p40"/>
          <p:cNvSpPr/>
          <p:nvPr/>
        </p:nvSpPr>
        <p:spPr>
          <a:xfrm>
            <a:off x="767233" y="2467950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09" y="1760708"/>
            <a:ext cx="17572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目前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2D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215" y="5191858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0903" y="4839931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504" y="4008676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402" y="230805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K x K</a:t>
            </a:r>
          </a:p>
        </p:txBody>
      </p:sp>
    </p:spTree>
    <p:extLst>
      <p:ext uri="{BB962C8B-B14F-4D97-AF65-F5344CB8AC3E}">
        <p14:creationId xmlns:p14="http://schemas.microsoft.com/office/powerpoint/2010/main" val="28384696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不同类型卷积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550;p44"/>
          <p:cNvSpPr/>
          <p:nvPr/>
        </p:nvSpPr>
        <p:spPr>
          <a:xfrm>
            <a:off x="1339034" y="3204846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551;p44"/>
          <p:cNvSpPr/>
          <p:nvPr/>
        </p:nvSpPr>
        <p:spPr>
          <a:xfrm>
            <a:off x="2934868" y="3470576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553;p44"/>
          <p:cNvCxnSpPr/>
          <p:nvPr/>
        </p:nvCxnSpPr>
        <p:spPr>
          <a:xfrm>
            <a:off x="1465251" y="3374451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54;p44"/>
          <p:cNvCxnSpPr/>
          <p:nvPr/>
        </p:nvCxnSpPr>
        <p:spPr>
          <a:xfrm>
            <a:off x="1601416" y="3225090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55;p44"/>
          <p:cNvCxnSpPr/>
          <p:nvPr/>
        </p:nvCxnSpPr>
        <p:spPr>
          <a:xfrm rot="10800000" flipH="1">
            <a:off x="1627509" y="3611690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81;p40"/>
          <p:cNvSpPr/>
          <p:nvPr/>
        </p:nvSpPr>
        <p:spPr>
          <a:xfrm>
            <a:off x="767233" y="2467950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09" y="1760708"/>
            <a:ext cx="17572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目前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2D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卷积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0917" y="1761139"/>
            <a:ext cx="10855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63951" y="3470576"/>
            <a:ext cx="3578469" cy="1676918"/>
          </a:xfrm>
          <a:prstGeom prst="rect">
            <a:avLst/>
          </a:prstGeom>
          <a:solidFill>
            <a:srgbClr val="F4CCCC">
              <a:alpha val="5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215" y="5191858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0903" y="4839931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504" y="4008676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402" y="230805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x H x W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权重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x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x K x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3890" y="4112827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64311" y="5147494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4137" y="3470576"/>
            <a:ext cx="910674" cy="1676918"/>
          </a:xfrm>
          <a:prstGeom prst="rect">
            <a:avLst/>
          </a:prstGeom>
          <a:solidFill>
            <a:srgbClr val="C9DAF8">
              <a:alpha val="5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34967" y="2308050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K</a:t>
            </a:r>
          </a:p>
        </p:txBody>
      </p:sp>
    </p:spTree>
    <p:extLst>
      <p:ext uri="{BB962C8B-B14F-4D97-AF65-F5344CB8AC3E}">
        <p14:creationId xmlns:p14="http://schemas.microsoft.com/office/powerpoint/2010/main" val="2940332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550;p44"/>
          <p:cNvSpPr/>
          <p:nvPr/>
        </p:nvSpPr>
        <p:spPr>
          <a:xfrm>
            <a:off x="6393277" y="3831495"/>
            <a:ext cx="630542" cy="657429"/>
          </a:xfrm>
          <a:prstGeom prst="cube">
            <a:avLst>
              <a:gd name="adj" fmla="val 38575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不同类型卷积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550;p44"/>
          <p:cNvSpPr/>
          <p:nvPr/>
        </p:nvSpPr>
        <p:spPr>
          <a:xfrm>
            <a:off x="1339034" y="3204846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551;p44"/>
          <p:cNvSpPr/>
          <p:nvPr/>
        </p:nvSpPr>
        <p:spPr>
          <a:xfrm>
            <a:off x="2934868" y="3470576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553;p44"/>
          <p:cNvCxnSpPr/>
          <p:nvPr/>
        </p:nvCxnSpPr>
        <p:spPr>
          <a:xfrm>
            <a:off x="1465251" y="3374451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54;p44"/>
          <p:cNvCxnSpPr/>
          <p:nvPr/>
        </p:nvCxnSpPr>
        <p:spPr>
          <a:xfrm>
            <a:off x="1601416" y="3225090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55;p44"/>
          <p:cNvCxnSpPr/>
          <p:nvPr/>
        </p:nvCxnSpPr>
        <p:spPr>
          <a:xfrm rot="10800000" flipH="1">
            <a:off x="1627509" y="3611690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81;p40"/>
          <p:cNvSpPr/>
          <p:nvPr/>
        </p:nvSpPr>
        <p:spPr>
          <a:xfrm>
            <a:off x="767233" y="2467950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09" y="1760708"/>
            <a:ext cx="17572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目前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</a:rPr>
              <a:t>: 2D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卷积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0917" y="1761139"/>
            <a:ext cx="10855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215" y="5191858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0903" y="4839931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504" y="4008676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402" y="230805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x H x W</a:t>
            </a:r>
          </a:p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权重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baseline="-25000" dirty="0" err="1">
                <a:solidFill>
                  <a:prstClr val="black"/>
                </a:solidFill>
                <a:latin typeface="Calibri" panose="020F0502020204030204"/>
              </a:rPr>
              <a:t>out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x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altLang="zh-CN" baseline="-25000" dirty="0" err="1">
                <a:solidFill>
                  <a:prstClr val="black"/>
                </a:solidFill>
                <a:latin typeface="Calibri" panose="020F0502020204030204"/>
              </a:rPr>
              <a:t>in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x K x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18" y="3863709"/>
            <a:ext cx="17943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3031" y="5194399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22" name="Google Shape;481;p40"/>
          <p:cNvSpPr/>
          <p:nvPr/>
        </p:nvSpPr>
        <p:spPr>
          <a:xfrm>
            <a:off x="5857602" y="3050603"/>
            <a:ext cx="1937071" cy="2060856"/>
          </a:xfrm>
          <a:prstGeom prst="cube">
            <a:avLst>
              <a:gd name="adj" fmla="val 30960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567" y="4719044"/>
            <a:ext cx="3497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71637" y="3690382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90329" y="2308050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H x W x D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K x K x K</a:t>
            </a:r>
          </a:p>
        </p:txBody>
      </p:sp>
    </p:spTree>
    <p:extLst>
      <p:ext uri="{BB962C8B-B14F-4D97-AF65-F5344CB8AC3E}">
        <p14:creationId xmlns:p14="http://schemas.microsoft.com/office/powerpoint/2010/main" val="54067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池化层</a:t>
            </a:r>
            <a:r>
              <a:rPr lang="en-US" dirty="0"/>
              <a:t>: </a:t>
            </a:r>
            <a:r>
              <a:rPr lang="zh-CN" altLang="en-US" dirty="0"/>
              <a:t>下采样的方法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7 -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49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115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4207" y="1945003"/>
            <a:ext cx="4366493" cy="344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063765" y="289622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prstClr val="black"/>
                </a:solidFill>
                <a:latin typeface="Calibri" panose="020F0502020204030204"/>
              </a:rPr>
              <a:t>超参数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defTabSz="685800"/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内核尺寸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步长</a:t>
            </a:r>
            <a:endParaRPr lang="en-US" altLang="zh-CN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池化函数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21482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最大池化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7 -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50</a:t>
            </a:fld>
            <a:endParaRPr lang="en-US" dirty="0">
              <a:latin typeface="Calibri" panose="020F0502020204030204"/>
            </a:endParaRPr>
          </a:p>
        </p:txBody>
      </p:sp>
      <p:graphicFrame>
        <p:nvGraphicFramePr>
          <p:cNvPr id="4" name="Google Shape;1122;p85"/>
          <p:cNvGraphicFramePr/>
          <p:nvPr/>
        </p:nvGraphicFramePr>
        <p:xfrm>
          <a:off x="1141440" y="2350025"/>
          <a:ext cx="2422868" cy="242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5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6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7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8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3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4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Google Shape;1123;p85"/>
          <p:cNvSpPr txBox="1"/>
          <p:nvPr/>
        </p:nvSpPr>
        <p:spPr>
          <a:xfrm>
            <a:off x="1120796" y="1840582"/>
            <a:ext cx="2616518" cy="56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sz="2399" dirty="0">
                <a:solidFill>
                  <a:prstClr val="black"/>
                </a:solidFill>
                <a:latin typeface="Calibri" panose="020F0502020204030204"/>
              </a:rPr>
              <a:t>单</a:t>
            </a:r>
            <a:r>
              <a:rPr lang="zh-CN" altLang="en-US" sz="2399" dirty="0">
                <a:solidFill>
                  <a:prstClr val="black"/>
                </a:solidFill>
                <a:latin typeface="Calibri" panose="020F0502020204030204"/>
              </a:rPr>
              <a:t>通道切片</a:t>
            </a:r>
            <a:endParaRPr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" name="Google Shape;1124;p85"/>
          <p:cNvCxnSpPr/>
          <p:nvPr/>
        </p:nvCxnSpPr>
        <p:spPr>
          <a:xfrm rot="10800000">
            <a:off x="831946" y="2379767"/>
            <a:ext cx="0" cy="236338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125;p85"/>
          <p:cNvSpPr txBox="1"/>
          <p:nvPr/>
        </p:nvSpPr>
        <p:spPr>
          <a:xfrm>
            <a:off x="466641" y="2504109"/>
            <a:ext cx="389599" cy="467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399">
                <a:solidFill>
                  <a:prstClr val="black"/>
                </a:solidFill>
                <a:latin typeface="Calibri" panose="020F0502020204030204"/>
              </a:rPr>
              <a:t>x</a:t>
            </a:r>
            <a:endParaRPr sz="2399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8" name="Google Shape;1126;p85"/>
          <p:cNvCxnSpPr/>
          <p:nvPr/>
        </p:nvCxnSpPr>
        <p:spPr>
          <a:xfrm>
            <a:off x="1114947" y="5090285"/>
            <a:ext cx="247585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127;p85"/>
          <p:cNvSpPr txBox="1"/>
          <p:nvPr/>
        </p:nvSpPr>
        <p:spPr>
          <a:xfrm>
            <a:off x="3066714" y="5020653"/>
            <a:ext cx="389599" cy="3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399">
                <a:solidFill>
                  <a:prstClr val="black"/>
                </a:solidFill>
                <a:latin typeface="Calibri" panose="020F0502020204030204"/>
              </a:rPr>
              <a:t>y</a:t>
            </a:r>
            <a:endParaRPr sz="2399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1128;p85"/>
          <p:cNvCxnSpPr/>
          <p:nvPr/>
        </p:nvCxnSpPr>
        <p:spPr>
          <a:xfrm>
            <a:off x="3941911" y="3561458"/>
            <a:ext cx="2032271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129;p85"/>
          <p:cNvSpPr txBox="1"/>
          <p:nvPr/>
        </p:nvSpPr>
        <p:spPr>
          <a:xfrm>
            <a:off x="3849510" y="2728751"/>
            <a:ext cx="2675003" cy="7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-US" sz="1799" dirty="0">
                <a:solidFill>
                  <a:prstClr val="black"/>
                </a:solidFill>
                <a:latin typeface="Calibri" panose="020F0502020204030204"/>
              </a:rPr>
              <a:t>2x2 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池化核步长</a:t>
            </a:r>
            <a:r>
              <a:rPr lang="en-US" sz="1799" dirty="0">
                <a:solidFill>
                  <a:prstClr val="black"/>
                </a:solidFill>
                <a:latin typeface="Calibri" panose="020F0502020204030204"/>
              </a:rPr>
              <a:t>2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2" name="Google Shape;1130;p85"/>
          <p:cNvGraphicFramePr/>
          <p:nvPr/>
        </p:nvGraphicFramePr>
        <p:xfrm>
          <a:off x="6809713" y="2916802"/>
          <a:ext cx="1211434" cy="12114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6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8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Google Shape;1115;p84"/>
          <p:cNvPicPr preferRelativeResize="0"/>
          <p:nvPr/>
        </p:nvPicPr>
        <p:blipFill rotWithShape="1">
          <a:blip r:embed="rId2">
            <a:alphaModFix/>
          </a:blip>
          <a:srcRect r="62018" b="49269"/>
          <a:stretch/>
        </p:blipFill>
        <p:spPr>
          <a:xfrm>
            <a:off x="4300171" y="991639"/>
            <a:ext cx="1315751" cy="13881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36907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池化总结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7 -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51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1" y="1765142"/>
            <a:ext cx="438675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2700" b="1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: C x H x W</a:t>
            </a:r>
          </a:p>
          <a:p>
            <a:pPr defTabSz="685800"/>
            <a:r>
              <a:rPr lang="zh-CN" altLang="en-US" sz="2700" b="1" dirty="0">
                <a:solidFill>
                  <a:prstClr val="black"/>
                </a:solidFill>
                <a:latin typeface="Calibri" panose="020F0502020204030204"/>
              </a:rPr>
              <a:t>超参数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marL="428625" indent="-428625" defTabSz="685800">
              <a:buFontTx/>
              <a:buChar char="-"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内核尺寸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: K</a:t>
            </a:r>
          </a:p>
          <a:p>
            <a:pPr marL="428625" indent="-428625" defTabSz="685800">
              <a:buFontTx/>
              <a:buChar char="-"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步长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: S</a:t>
            </a:r>
          </a:p>
          <a:p>
            <a:pPr marL="428625" indent="-428625" defTabSz="685800">
              <a:buFontTx/>
              <a:buChar char="-"/>
            </a:pPr>
            <a:r>
              <a:rPr lang="zh-CN" altLang="en-US" sz="2700" dirty="0">
                <a:solidFill>
                  <a:prstClr val="black"/>
                </a:solidFill>
                <a:latin typeface="Calibri" panose="020F0502020204030204"/>
              </a:rPr>
              <a:t>池化函数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(max, avg)</a:t>
            </a:r>
          </a:p>
          <a:p>
            <a:pPr defTabSz="685800"/>
            <a:r>
              <a:rPr lang="zh-CN" altLang="en-US" sz="2700" b="1" dirty="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: C x H’ x W’ where</a:t>
            </a:r>
          </a:p>
          <a:p>
            <a:pPr marL="428625" indent="-428625" defTabSz="685800">
              <a:buFontTx/>
              <a:buChar char="-"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H’ = (H </a:t>
            </a:r>
            <a:r>
              <a:rPr lang="mr-IN" sz="2700" dirty="0">
                <a:solidFill>
                  <a:prstClr val="black"/>
                </a:solidFill>
                <a:latin typeface="Calibri" panose="020F0502020204030204"/>
                <a:cs typeface="Mangal" panose="02040503050203030202" pitchFamily="18" charset="0"/>
              </a:rPr>
              <a:t>–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K) / S + 1</a:t>
            </a:r>
          </a:p>
          <a:p>
            <a:pPr marL="428625" indent="-428625" defTabSz="685800">
              <a:buFontTx/>
              <a:buChar char="-"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W’ = (W </a:t>
            </a:r>
            <a:r>
              <a:rPr lang="mr-IN" sz="2700" dirty="0">
                <a:solidFill>
                  <a:prstClr val="black"/>
                </a:solidFill>
                <a:latin typeface="Calibri" panose="020F0502020204030204"/>
                <a:cs typeface="Mangal" panose="02040503050203030202" pitchFamily="18" charset="0"/>
              </a:rPr>
              <a:t>–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K) / S + 1</a:t>
            </a:r>
          </a:p>
          <a:p>
            <a:pPr defTabSz="685800"/>
            <a:r>
              <a:rPr lang="zh-CN" altLang="en-US" sz="2700" b="1" dirty="0">
                <a:solidFill>
                  <a:prstClr val="black"/>
                </a:solidFill>
                <a:latin typeface="Calibri" panose="020F0502020204030204"/>
              </a:rPr>
              <a:t>可学习的参数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: None!</a:t>
            </a:r>
            <a:endParaRPr lang="en-US" sz="27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5455" y="2699250"/>
            <a:ext cx="34343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常用设置</a:t>
            </a:r>
            <a:r>
              <a:rPr lang="en-US" sz="2400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:</a:t>
            </a:r>
          </a:p>
          <a:p>
            <a:pPr defTabSz="685800"/>
            <a:r>
              <a:rPr lang="en-US" sz="2400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max, K = 2, S = 2</a:t>
            </a:r>
          </a:p>
          <a:p>
            <a:pPr defTabSz="685800"/>
            <a:r>
              <a:rPr lang="en-US" sz="2400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max, K = 3, S = 2 (</a:t>
            </a:r>
            <a:r>
              <a:rPr lang="en-US" sz="2400" dirty="0" err="1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AlexNet</a:t>
            </a:r>
            <a:r>
              <a:rPr lang="en-US" sz="2400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72847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927BE-D3C9-4505-8624-9AB7E60D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949548"/>
          </a:xfrm>
        </p:spPr>
        <p:txBody>
          <a:bodyPr/>
          <a:lstStyle/>
          <a:p>
            <a:r>
              <a:rPr lang="zh-CN" altLang="en-US" dirty="0"/>
              <a:t>卷积神经网络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52B7F-029D-41A4-88D3-727CDFBE1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54" y="1055812"/>
            <a:ext cx="8577808" cy="5107706"/>
          </a:xfrm>
        </p:spPr>
        <p:txBody>
          <a:bodyPr/>
          <a:lstStyle/>
          <a:p>
            <a:r>
              <a:rPr lang="en-US" altLang="zh-CN" sz="2800" dirty="0"/>
              <a:t>LeNet-5</a:t>
            </a:r>
            <a:endParaRPr lang="zh-CN" altLang="en-US" sz="2800" dirty="0"/>
          </a:p>
        </p:txBody>
      </p:sp>
      <p:pic>
        <p:nvPicPr>
          <p:cNvPr id="6" name="Picture 2" descr="eCun 1998 convnet cartoon.png">
            <a:extLst>
              <a:ext uri="{FF2B5EF4-FFF2-40B4-BE49-F238E27FC236}">
                <a16:creationId xmlns:a16="http://schemas.microsoft.com/office/drawing/2014/main" id="{E856204D-744B-4E49-9EA0-862F3981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5" y="2492896"/>
            <a:ext cx="8217284" cy="249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1436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755585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2370740"/>
            <a:ext cx="4532588" cy="3109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51838" y="1188326"/>
            <a:ext cx="811925" cy="9695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</p:spTree>
    <p:extLst>
      <p:ext uri="{BB962C8B-B14F-4D97-AF65-F5344CB8AC3E}">
        <p14:creationId xmlns:p14="http://schemas.microsoft.com/office/powerpoint/2010/main" val="1903871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LeNet-5*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31749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=20*,K=5,</a:t>
                      </a:r>
                      <a:r>
                        <a:rPr lang="en-US" sz="1400" baseline="0" dirty="0"/>
                        <a:t>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**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2938298"/>
            <a:ext cx="4532588" cy="25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22603" y="1181082"/>
            <a:ext cx="1822562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924BD-F070-4AA0-BAE4-BB2438C15014}"/>
              </a:ext>
            </a:extLst>
          </p:cNvPr>
          <p:cNvSpPr txBox="1"/>
          <p:nvPr/>
        </p:nvSpPr>
        <p:spPr>
          <a:xfrm>
            <a:off x="5143500" y="2563957"/>
            <a:ext cx="27354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Original paper: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35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** Original paper: sigmoid</a:t>
            </a:r>
          </a:p>
        </p:txBody>
      </p:sp>
    </p:spTree>
    <p:extLst>
      <p:ext uri="{BB962C8B-B14F-4D97-AF65-F5344CB8AC3E}">
        <p14:creationId xmlns:p14="http://schemas.microsoft.com/office/powerpoint/2010/main" val="13743916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380101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3233902"/>
            <a:ext cx="4532588" cy="224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50293" y="1204730"/>
            <a:ext cx="1479663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52010-35B9-4DCF-AC27-A155FB3A7D38}"/>
              </a:ext>
            </a:extLst>
          </p:cNvPr>
          <p:cNvSpPr txBox="1"/>
          <p:nvPr/>
        </p:nvSpPr>
        <p:spPr>
          <a:xfrm>
            <a:off x="5143500" y="2930239"/>
            <a:ext cx="27354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2x2 strided convolution</a:t>
            </a:r>
          </a:p>
        </p:txBody>
      </p:sp>
    </p:spTree>
    <p:extLst>
      <p:ext uri="{BB962C8B-B14F-4D97-AF65-F5344CB8AC3E}">
        <p14:creationId xmlns:p14="http://schemas.microsoft.com/office/powerpoint/2010/main" val="14323955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83271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=50*,K=5,P=2,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**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3825109"/>
            <a:ext cx="4532588" cy="1655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62396" y="1204730"/>
            <a:ext cx="1052348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2C151-CF6E-4CEE-867E-2675E1BA885B}"/>
              </a:ext>
            </a:extLst>
          </p:cNvPr>
          <p:cNvSpPr txBox="1"/>
          <p:nvPr/>
        </p:nvSpPr>
        <p:spPr>
          <a:xfrm>
            <a:off x="5143500" y="3273139"/>
            <a:ext cx="35458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lang="zh-CN" altLang="en-US" sz="1350" dirty="0">
                <a:solidFill>
                  <a:prstClr val="black"/>
                </a:solidFill>
                <a:latin typeface="Calibri" panose="020F0502020204030204"/>
              </a:rPr>
              <a:t>原文章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35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16, grouped convolutions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** 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原文章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sigmoid</a:t>
            </a:r>
          </a:p>
        </p:txBody>
      </p:sp>
    </p:spTree>
    <p:extLst>
      <p:ext uri="{BB962C8B-B14F-4D97-AF65-F5344CB8AC3E}">
        <p14:creationId xmlns:p14="http://schemas.microsoft.com/office/powerpoint/2010/main" val="983128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425012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S=2)*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4108888"/>
            <a:ext cx="4532588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35362" y="1192906"/>
            <a:ext cx="780392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5C993-D4A0-4266-A9F7-FE5EA286AB60}"/>
              </a:ext>
            </a:extLst>
          </p:cNvPr>
          <p:cNvSpPr txBox="1"/>
          <p:nvPr/>
        </p:nvSpPr>
        <p:spPr>
          <a:xfrm>
            <a:off x="5143500" y="3826457"/>
            <a:ext cx="27354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2x2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strided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0274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592409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4392668"/>
            <a:ext cx="4532588" cy="1087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1911" y="1169258"/>
            <a:ext cx="744919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</p:spTree>
    <p:extLst>
      <p:ext uri="{BB962C8B-B14F-4D97-AF65-F5344CB8AC3E}">
        <p14:creationId xmlns:p14="http://schemas.microsoft.com/office/powerpoint/2010/main" val="19939396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359030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4960226"/>
            <a:ext cx="4532588" cy="520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3865" y="1169258"/>
            <a:ext cx="744919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</p:spTree>
    <p:extLst>
      <p:ext uri="{BB962C8B-B14F-4D97-AF65-F5344CB8AC3E}">
        <p14:creationId xmlns:p14="http://schemas.microsoft.com/office/powerpoint/2010/main" val="35962059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LeNet-5*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948698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10)*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75886" y="1342039"/>
            <a:ext cx="744919" cy="7567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0AF71-3013-471C-A377-6226BCC57100}"/>
              </a:ext>
            </a:extLst>
          </p:cNvPr>
          <p:cNvSpPr txBox="1"/>
          <p:nvPr/>
        </p:nvSpPr>
        <p:spPr>
          <a:xfrm>
            <a:off x="5143500" y="4223907"/>
            <a:ext cx="27408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原文章未使用</a:t>
            </a:r>
            <a:r>
              <a:rPr kumimoji="0" lang="en-US" altLang="zh-CN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而使用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RBF </a:t>
            </a:r>
          </a:p>
          <a:p>
            <a:pPr marR="0" lvl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(radial basis function)</a:t>
            </a:r>
          </a:p>
        </p:txBody>
      </p:sp>
    </p:spTree>
    <p:extLst>
      <p:ext uri="{BB962C8B-B14F-4D97-AF65-F5344CB8AC3E}">
        <p14:creationId xmlns:p14="http://schemas.microsoft.com/office/powerpoint/2010/main" val="39564168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562663"/>
              </p:ext>
            </p:extLst>
          </p:nvPr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层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输出大小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权重大小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5293" y="2692406"/>
            <a:ext cx="2638864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整个网络结构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降低空域尺寸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池化或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  <a:ea typeface="+mn-ea"/>
              </a:rPr>
              <a:t>步长为</a:t>
            </a:r>
            <a:r>
              <a:rPr lang="en-US" altLang="zh-CN" sz="2100" dirty="0">
                <a:solidFill>
                  <a:prstClr val="black"/>
                </a:solidFill>
                <a:latin typeface="Calibri" panose="020F0502020204030204"/>
                <a:ea typeface="+mn-ea"/>
              </a:rPr>
              <a:t>2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  <a:ea typeface="+mn-ea"/>
              </a:rPr>
              <a:t>卷积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增加通道数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保留大小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41884045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目录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1 </a:t>
            </a:r>
            <a:r>
              <a:rPr lang="zh-CN" altLang="en-US" b="1" dirty="0"/>
              <a:t>卷积神经网络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2 </a:t>
            </a:r>
            <a:r>
              <a:rPr lang="en-US" altLang="zh-CN" b="1" dirty="0" err="1">
                <a:solidFill>
                  <a:srgbClr val="B2B2B2"/>
                </a:solidFill>
              </a:rPr>
              <a:t>TextCNN</a:t>
            </a:r>
            <a:r>
              <a:rPr lang="zh-CN" altLang="en-US" b="1" dirty="0">
                <a:solidFill>
                  <a:srgbClr val="B2B2B2"/>
                </a:solidFill>
              </a:rPr>
              <a:t>文本分类</a:t>
            </a:r>
          </a:p>
        </p:txBody>
      </p:sp>
    </p:spTree>
    <p:extLst>
      <p:ext uri="{BB962C8B-B14F-4D97-AF65-F5344CB8AC3E}">
        <p14:creationId xmlns:p14="http://schemas.microsoft.com/office/powerpoint/2010/main" val="21077191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文本嵌入表示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002437-933B-4403-87FB-5E2F83277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266950"/>
            <a:ext cx="44481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01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单向平滑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500E77-95DC-4B47-9749-B4E19EE93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132856"/>
            <a:ext cx="696195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832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填充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42F02E-EEBC-466D-9F78-78459DA3F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204864"/>
            <a:ext cx="632917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615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多核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1E6BD6-E2AB-4A0B-9F53-5A3A25D9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90" y="2132856"/>
            <a:ext cx="757801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09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最大池化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53FAA4-5492-43D9-A6D2-AAFD83D2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66461"/>
            <a:ext cx="685554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370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r>
              <a:rPr lang="zh-CN" altLang="en-US" sz="2800" dirty="0"/>
              <a:t>平均池化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EC5A8E-4306-4BEE-9176-DEBE10659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67731"/>
            <a:ext cx="685717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584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步长</a:t>
            </a:r>
            <a:r>
              <a:rPr lang="en-US" altLang="zh-CN" sz="2800" dirty="0"/>
              <a:t>=2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0B6C22-FA02-4F04-9E7B-79BBBB5FD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161062"/>
            <a:ext cx="683335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50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D0EB0-F698-448A-89C7-EB9AE41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94699-2119-4811-ADA1-3821D731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局部最大池化，步长为</a:t>
            </a:r>
            <a:r>
              <a:rPr lang="en-US" altLang="zh-CN" sz="2800" dirty="0"/>
              <a:t>2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AB78F9-8622-468A-864B-4CB03AA06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236946"/>
            <a:ext cx="715920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148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k</a:t>
            </a:r>
            <a:r>
              <a:rPr lang="zh-CN" altLang="en-US" sz="2800" dirty="0"/>
              <a:t>大池化，</a:t>
            </a:r>
            <a:r>
              <a:rPr lang="en-US" altLang="zh-CN" sz="2800" dirty="0"/>
              <a:t>k</a:t>
            </a:r>
            <a:r>
              <a:rPr lang="zh-CN" altLang="en-US" sz="2800" dirty="0"/>
              <a:t>为</a:t>
            </a:r>
            <a:r>
              <a:rPr lang="en-US" altLang="zh-CN" sz="2800" dirty="0"/>
              <a:t>2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C0320D-90A1-4264-95C4-278A32EBD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32856"/>
            <a:ext cx="683986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800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56" y="1381819"/>
            <a:ext cx="8229600" cy="5179416"/>
          </a:xfrm>
        </p:spPr>
        <p:txBody>
          <a:bodyPr/>
          <a:lstStyle/>
          <a:p>
            <a:r>
              <a:rPr lang="zh-CN" altLang="en-US" sz="2800" b="1" dirty="0"/>
              <a:t>单层</a:t>
            </a:r>
            <a:r>
              <a:rPr lang="en-US" altLang="zh-CN" sz="2800" b="1" dirty="0"/>
              <a:t>CNN</a:t>
            </a:r>
          </a:p>
          <a:p>
            <a:pPr marL="0" indent="0">
              <a:buNone/>
            </a:pPr>
            <a:r>
              <a:rPr lang="zh-CN" altLang="en-US" sz="2800" dirty="0"/>
              <a:t>    卷积层</a:t>
            </a:r>
            <a:r>
              <a:rPr lang="en-US" altLang="zh-CN" sz="2800" dirty="0"/>
              <a:t>+</a:t>
            </a:r>
            <a:r>
              <a:rPr lang="zh-CN" altLang="en-US" sz="2800" dirty="0"/>
              <a:t>池化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    词向量：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    输入句子：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    词向量序列表示：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    卷积核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/>
              <a:t>    卷</a:t>
            </a:r>
            <a:r>
              <a:rPr lang="zh-CN" altLang="en-US" sz="2800" dirty="0"/>
              <a:t>积核长度：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2,3,4</a:t>
            </a:r>
            <a:r>
              <a:rPr lang="zh-CN" altLang="en-US" sz="2800" dirty="0"/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548170-9B48-45F8-88D8-891E275AB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425179"/>
            <a:ext cx="1238250" cy="4857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F9F62E-0EC1-4030-A239-50B28EBEE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2992709"/>
            <a:ext cx="3752850" cy="4857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1F9B2D-EE21-48C6-BE54-3E3096664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3984797"/>
            <a:ext cx="1266825" cy="409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894154-F7B0-4409-97EA-CE7E74A80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066" y="3532968"/>
            <a:ext cx="819150" cy="342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4804B4-9FC8-4BF1-9F43-2DDC300EB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4515183"/>
            <a:ext cx="48006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06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单特征平面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句子：</a:t>
            </a:r>
            <a:endParaRPr lang="en-US" altLang="zh-CN" sz="2800" dirty="0"/>
          </a:p>
          <a:p>
            <a:r>
              <a:rPr lang="zh-CN" altLang="en-US" sz="2800" dirty="0"/>
              <a:t>窗口序列：</a:t>
            </a:r>
            <a:endParaRPr lang="en-US" altLang="zh-CN" sz="2800" dirty="0"/>
          </a:p>
          <a:p>
            <a:r>
              <a:rPr lang="zh-CN" altLang="en-US" sz="2800" dirty="0"/>
              <a:t>特征平面：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CCD199-D214-4C67-A246-F0CCEFEF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56816"/>
            <a:ext cx="4602088" cy="6119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5325B4E-BA4C-4981-94D9-81EEAF4B4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194379"/>
            <a:ext cx="3810000" cy="4000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AFB762-43BD-4619-89AA-24CEFACDD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353" y="3725069"/>
            <a:ext cx="4305300" cy="4476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12489D-00D3-4B4F-B1A9-B982F49D7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220767"/>
            <a:ext cx="5029200" cy="466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1A0CA75-877A-4FCE-9DE9-7ED37823E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4707336"/>
            <a:ext cx="745807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988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单特征平面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句子：</a:t>
            </a:r>
            <a:endParaRPr lang="en-US" altLang="zh-CN" sz="2800" dirty="0"/>
          </a:p>
          <a:p>
            <a:r>
              <a:rPr lang="zh-CN" altLang="en-US" sz="2800" dirty="0"/>
              <a:t>窗口序列：</a:t>
            </a:r>
            <a:endParaRPr lang="en-US" altLang="zh-CN" sz="2800" dirty="0"/>
          </a:p>
          <a:p>
            <a:r>
              <a:rPr lang="zh-CN" altLang="en-US" sz="2800" dirty="0"/>
              <a:t>特征平面：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CCD199-D214-4C67-A246-F0CCEFEF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233215"/>
            <a:ext cx="5229225" cy="6953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5325B4E-BA4C-4981-94D9-81EEAF4B4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124199"/>
            <a:ext cx="3810000" cy="4000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AFB762-43BD-4619-89AA-24CEFACDD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353" y="3725069"/>
            <a:ext cx="4305300" cy="4476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12489D-00D3-4B4F-B1A9-B982F49D7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220767"/>
            <a:ext cx="5029200" cy="4667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7590EB-7F8F-4A58-87E3-750570101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2" y="4681142"/>
            <a:ext cx="78486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978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/>
              <a:t>池化</a:t>
            </a:r>
            <a:r>
              <a:rPr lang="zh-CN" altLang="en-US" sz="2800" dirty="0"/>
              <a:t>：每时刻最大池化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400" dirty="0"/>
              <a:t>   输出特征平面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</a:t>
            </a:r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池化后为单向量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                     </a:t>
            </a:r>
            <a:r>
              <a:rPr lang="zh-CN" altLang="en-US" sz="2400" dirty="0"/>
              <a:t>与卷积核长度无关</a:t>
            </a:r>
            <a:endParaRPr lang="en-US" altLang="zh-CN" sz="2400" dirty="0"/>
          </a:p>
          <a:p>
            <a:r>
              <a:rPr lang="zh-CN" altLang="en-US" sz="2800" dirty="0"/>
              <a:t>同一窗口长度，多卷积核</a:t>
            </a:r>
            <a:endParaRPr lang="en-US" altLang="zh-CN" sz="2800" dirty="0"/>
          </a:p>
          <a:p>
            <a:r>
              <a:rPr lang="zh-CN" altLang="en-US" sz="2800" dirty="0"/>
              <a:t>多窗口长度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 </a:t>
            </a:r>
            <a:r>
              <a:rPr lang="zh-CN" altLang="en-US" sz="2400" dirty="0"/>
              <a:t>一元语法，二元语法，三元语法，四元语法</a:t>
            </a:r>
            <a:endParaRPr lang="en-US" altLang="zh-CN" sz="2400" dirty="0"/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8F6179-5EED-48C5-A24D-574AB0EB3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100755"/>
            <a:ext cx="5229225" cy="4667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1F8D3C-4869-4823-ABA2-5048CA0CE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914" y="2914404"/>
            <a:ext cx="22479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797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卷积层之后分类层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</a:t>
            </a:r>
          </a:p>
          <a:p>
            <a:endParaRPr lang="en-US" altLang="zh-CN" sz="2800" dirty="0"/>
          </a:p>
          <a:p>
            <a:r>
              <a:rPr lang="en-US" altLang="zh-CN" sz="2800" dirty="0" err="1"/>
              <a:t>Softmax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FF9439-5528-42CD-8A95-3A79EC521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392" y="2348880"/>
            <a:ext cx="2219325" cy="5524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B22C3E-BD63-48A4-84AC-0298EC866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392" y="3956195"/>
            <a:ext cx="47625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090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4B75C3-7254-4FCE-A346-AB3F9C9F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17638"/>
            <a:ext cx="4706471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567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5F1F8-0B17-4CFD-8589-7F9A63FE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TextCNN</a:t>
            </a:r>
            <a:r>
              <a:rPr lang="zh-CN" altLang="en-US" dirty="0"/>
              <a:t>文本分类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388B1-181E-4897-8122-BB3424BD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实验：</a:t>
            </a:r>
            <a:r>
              <a:rPr lang="en-US" altLang="zh-CN" sz="2800" dirty="0"/>
              <a:t>Kim(2014)</a:t>
            </a:r>
          </a:p>
          <a:p>
            <a:r>
              <a:rPr lang="zh-CN" altLang="en-US" sz="2800" dirty="0"/>
              <a:t>参数设置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-</a:t>
            </a:r>
            <a:r>
              <a:rPr lang="zh-CN" altLang="en-US" sz="1800" dirty="0"/>
              <a:t>激活函数：</a:t>
            </a:r>
            <a:r>
              <a:rPr lang="en-US" altLang="zh-CN" sz="1800" dirty="0" err="1"/>
              <a:t>ReLU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-</a:t>
            </a:r>
            <a:r>
              <a:rPr lang="zh-CN" altLang="en-US" sz="1800" dirty="0"/>
              <a:t>滤波窗口宽度：</a:t>
            </a:r>
            <a:r>
              <a:rPr lang="en-US" altLang="zh-CN" sz="1800" dirty="0"/>
              <a:t>3,4,5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-</a:t>
            </a:r>
            <a:r>
              <a:rPr lang="zh-CN" altLang="en-US" sz="1800" dirty="0"/>
              <a:t>滤波核个数：</a:t>
            </a:r>
            <a:r>
              <a:rPr lang="en-US" altLang="zh-CN" sz="1800" dirty="0"/>
              <a:t>100</a:t>
            </a:r>
          </a:p>
          <a:p>
            <a:pPr marL="0" indent="0">
              <a:buNone/>
            </a:pPr>
            <a:r>
              <a:rPr lang="en-US" altLang="zh-CN" sz="1800" dirty="0"/>
              <a:t>    -Dropout</a:t>
            </a:r>
            <a:r>
              <a:rPr lang="zh-CN" altLang="en-US" sz="1800" dirty="0"/>
              <a:t>：</a:t>
            </a:r>
            <a:r>
              <a:rPr lang="en-US" altLang="zh-CN" sz="1800" dirty="0"/>
              <a:t>0.5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-</a:t>
            </a:r>
            <a:r>
              <a:rPr lang="zh-CN" altLang="en-US" sz="1800" dirty="0"/>
              <a:t>正则化参数：</a:t>
            </a:r>
            <a:r>
              <a:rPr lang="en-US" altLang="zh-CN" sz="1800" dirty="0"/>
              <a:t>s=3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-</a:t>
            </a:r>
            <a:r>
              <a:rPr lang="zh-CN" altLang="en-US" sz="1800" dirty="0"/>
              <a:t>批大小：</a:t>
            </a:r>
            <a:r>
              <a:rPr lang="en-US" altLang="zh-CN" sz="1800" dirty="0"/>
              <a:t>50</a:t>
            </a:r>
            <a:r>
              <a:rPr lang="zh-CN" altLang="en-US" sz="1800" dirty="0"/>
              <a:t>（</a:t>
            </a:r>
            <a:r>
              <a:rPr lang="en-US" altLang="zh-CN" sz="1800" dirty="0"/>
              <a:t>SGD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-</a:t>
            </a:r>
            <a:r>
              <a:rPr lang="zh-CN" altLang="en-US" sz="1800" dirty="0"/>
              <a:t>词向量长度：</a:t>
            </a:r>
            <a:r>
              <a:rPr lang="en-US" altLang="zh-CN" sz="1800" dirty="0"/>
              <a:t>300 </a:t>
            </a:r>
            <a:r>
              <a:rPr lang="zh-CN" altLang="en-US" sz="1800" dirty="0"/>
              <a:t>（预训练）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9E2F71-816A-43EF-B9B8-694E6F60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668256"/>
            <a:ext cx="723178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7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+mj-ea"/>
              </a:rPr>
              <a:t>结束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JJohnson NN clas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17417</TotalTime>
  <Words>4229</Words>
  <Application>Microsoft Macintosh PowerPoint</Application>
  <PresentationFormat>全屏显示(4:3)</PresentationFormat>
  <Paragraphs>1076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79</vt:i4>
      </vt:variant>
    </vt:vector>
  </HeadingPairs>
  <TitlesOfParts>
    <vt:vector size="87" baseType="lpstr">
      <vt:lpstr>KaiTi</vt:lpstr>
      <vt:lpstr>Arial</vt:lpstr>
      <vt:lpstr>Calibri</vt:lpstr>
      <vt:lpstr>Calibri Light</vt:lpstr>
      <vt:lpstr>Times New Roman</vt:lpstr>
      <vt:lpstr>Verdana</vt:lpstr>
      <vt:lpstr>Balloons</vt:lpstr>
      <vt:lpstr>JJohnson NN class</vt:lpstr>
      <vt:lpstr>目录</vt:lpstr>
      <vt:lpstr>卷积神经网络</vt:lpstr>
      <vt:lpstr>全连接层Fully-Connected Layer</vt:lpstr>
      <vt:lpstr>全连接层Fully-Connected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卷积层级联Stacking Convolutions</vt:lpstr>
      <vt:lpstr>卷积层级联Stacking Convolutions</vt:lpstr>
      <vt:lpstr>卷积层级联Stacking Convolutions</vt:lpstr>
      <vt:lpstr>卷积核可视化? </vt:lpstr>
      <vt:lpstr>卷积核可视化? </vt:lpstr>
      <vt:lpstr>卷积核可视化? </vt:lpstr>
      <vt:lpstr>卷积核可视化? 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卷积步长</vt:lpstr>
      <vt:lpstr>卷积步长</vt:lpstr>
      <vt:lpstr>卷积步长</vt:lpstr>
      <vt:lpstr>卷积步长</vt:lpstr>
      <vt:lpstr>卷积举例</vt:lpstr>
      <vt:lpstr>卷积举例</vt:lpstr>
      <vt:lpstr>卷积举例</vt:lpstr>
      <vt:lpstr>卷积举例</vt:lpstr>
      <vt:lpstr>卷积举例</vt:lpstr>
      <vt:lpstr>卷积举例</vt:lpstr>
      <vt:lpstr>举例: 1x1 卷积</vt:lpstr>
      <vt:lpstr>举例: 1x1 卷积</vt:lpstr>
      <vt:lpstr>卷积总结</vt:lpstr>
      <vt:lpstr>卷积总结</vt:lpstr>
      <vt:lpstr>不同类型卷积</vt:lpstr>
      <vt:lpstr>不同类型卷积</vt:lpstr>
      <vt:lpstr>不同类型卷积</vt:lpstr>
      <vt:lpstr>池化层: 下采样的方法</vt:lpstr>
      <vt:lpstr>最大池化</vt:lpstr>
      <vt:lpstr>池化总结</vt:lpstr>
      <vt:lpstr>卷积神经网络</vt:lpstr>
      <vt:lpstr>举例: LeNet-5</vt:lpstr>
      <vt:lpstr>举例: LeNet-5*</vt:lpstr>
      <vt:lpstr>举例: LeNet-5</vt:lpstr>
      <vt:lpstr>举例: LeNet-5</vt:lpstr>
      <vt:lpstr>举例: LeNet-5</vt:lpstr>
      <vt:lpstr>举例: LeNet-5</vt:lpstr>
      <vt:lpstr>举例: LeNet-5</vt:lpstr>
      <vt:lpstr>举例: LeNet-5*</vt:lpstr>
      <vt:lpstr>举例: LeNet-5</vt:lpstr>
      <vt:lpstr>目录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TextCNN文本分类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第06章 隐马尔科夫模型</dc:title>
  <dc:creator>chenyin</dc:creator>
  <cp:lastModifiedBy>Microsoft Office User</cp:lastModifiedBy>
  <cp:revision>964</cp:revision>
  <dcterms:created xsi:type="dcterms:W3CDTF">2009-07-13T05:22:58Z</dcterms:created>
  <dcterms:modified xsi:type="dcterms:W3CDTF">2024-04-11T14:04:06Z</dcterms:modified>
</cp:coreProperties>
</file>